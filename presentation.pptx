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5" r:id="rId17"/>
    <p:sldId id="271" r:id="rId18"/>
    <p:sldId id="272" r:id="rId19"/>
    <p:sldId id="273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96476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97416-1452-1719-6633-5D4315A84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027575-3887-4952-6794-A7B73F63FD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17264A-C58B-F6B4-D44A-96AF20CC30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2B8621-9806-A27C-4A16-F377091C1D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4117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4C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128016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600" dirty="0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PRIMER &amp; TWO STORIES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691640"/>
            <a:ext cx="7955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</a:t>
            </a:r>
            <a:endParaRPr lang="en-US" sz="4600" dirty="0"/>
          </a:p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Discovery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22960" y="324612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does it help, when does it hurt, and why does the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protocol matter more than the model?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297680"/>
            <a:ext cx="457200" cy="36576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437083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NCATS ADME endpoints  •  XGBoost · Chemprop · CheMeleon  •  5×5 chemical-space CV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QUESTION MATTERS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ADME data is small. Transfer learning is the standard fix — but is it always safe?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310896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64008" cy="3108960"/>
          </a:xfrm>
          <a:prstGeom prst="rect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reality on the bench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187452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typical ADME assay yields </a:t>
            </a: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hundred to a few thousand 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 — far below what neural networks normally need.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is the workaround: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1.  pre-train on a large dataset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2.  adapt to the small target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well when source and target share biochemistry.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4023360" cy="310896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9204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unspoken question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92040" y="196596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the source dataset turns out to be unrelated to your target?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892040" y="31546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model gracefully ignore the irrelevant pre-training, or does it break?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92040" y="397764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can't pick our drug targets to make our models look good.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 •  MODEL FAMILY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on Morgan fingerprints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 rot="5400000">
            <a:off x="960120" y="2148840"/>
            <a:ext cx="640080" cy="640080"/>
          </a:xfrm>
          <a:prstGeom prst="hexagon">
            <a:avLst/>
          </a:prstGeom>
          <a:solidFill>
            <a:srgbClr val="FFFFFF"/>
          </a:solidFill>
          <a:ln w="254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15568" y="230428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572768" y="2423160"/>
            <a:ext cx="164592" cy="0"/>
          </a:xfrm>
          <a:prstGeom prst="line">
            <a:avLst/>
          </a:prstGeom>
          <a:noFill/>
          <a:ln w="1905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700784" y="2276856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9718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828800" y="2468880"/>
            <a:ext cx="640080" cy="0"/>
          </a:xfrm>
          <a:prstGeom prst="line">
            <a:avLst/>
          </a:prstGeom>
          <a:noFill/>
          <a:ln w="25400">
            <a:solidFill>
              <a:srgbClr val="1B6B7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606040" y="2176272"/>
            <a:ext cx="82296" cy="82296"/>
          </a:xfrm>
          <a:prstGeom prst="rect">
            <a:avLst/>
          </a:prstGeom>
          <a:solidFill>
            <a:srgbClr val="1B6B7D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711196" y="2176272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816352" y="2176272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921508" y="2176272"/>
            <a:ext cx="82296" cy="82296"/>
          </a:xfrm>
          <a:prstGeom prst="rect">
            <a:avLst/>
          </a:prstGeom>
          <a:solidFill>
            <a:srgbClr val="1B6B7D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026664" y="2176272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131820" y="2176272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606040" y="2281428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11196" y="2281428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816352" y="2281428"/>
            <a:ext cx="82296" cy="82296"/>
          </a:xfrm>
          <a:prstGeom prst="rect">
            <a:avLst/>
          </a:prstGeom>
          <a:solidFill>
            <a:srgbClr val="1B6B7D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921508" y="2281428"/>
            <a:ext cx="82296" cy="82296"/>
          </a:xfrm>
          <a:prstGeom prst="rect">
            <a:avLst/>
          </a:prstGeom>
          <a:solidFill>
            <a:srgbClr val="1B6B7D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026664" y="2281428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131820" y="2281428"/>
            <a:ext cx="82296" cy="82296"/>
          </a:xfrm>
          <a:prstGeom prst="rect">
            <a:avLst/>
          </a:prstGeom>
          <a:solidFill>
            <a:srgbClr val="1B6B7D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606040" y="2386584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711196" y="2386584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816352" y="2386584"/>
            <a:ext cx="82296" cy="82296"/>
          </a:xfrm>
          <a:prstGeom prst="rect">
            <a:avLst/>
          </a:prstGeom>
          <a:solidFill>
            <a:srgbClr val="1B6B7D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921508" y="2386584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026664" y="2386584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131820" y="2386584"/>
            <a:ext cx="82296" cy="82296"/>
          </a:xfrm>
          <a:prstGeom prst="rect">
            <a:avLst/>
          </a:prstGeom>
          <a:solidFill>
            <a:srgbClr val="1B6B7D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606040" y="2491740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711196" y="2491740"/>
            <a:ext cx="82296" cy="82296"/>
          </a:xfrm>
          <a:prstGeom prst="rect">
            <a:avLst/>
          </a:prstGeom>
          <a:solidFill>
            <a:srgbClr val="1B6B7D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816352" y="2491740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2921508" y="2491740"/>
            <a:ext cx="82296" cy="82296"/>
          </a:xfrm>
          <a:prstGeom prst="rect">
            <a:avLst/>
          </a:prstGeom>
          <a:solidFill>
            <a:srgbClr val="1B6B7D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026664" y="2491740"/>
            <a:ext cx="82296" cy="82296"/>
          </a:xfrm>
          <a:prstGeom prst="rect">
            <a:avLst/>
          </a:prstGeom>
          <a:solidFill>
            <a:srgbClr val="1B6B7D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3131820" y="2491740"/>
            <a:ext cx="82296" cy="82296"/>
          </a:xfrm>
          <a:prstGeom prst="rect">
            <a:avLst/>
          </a:prstGeom>
          <a:solidFill>
            <a:srgbClr val="EFF3F6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2468880" y="2971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2,048-bit Morgan FP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468880" y="318211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substructures present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14800" y="2468880"/>
            <a:ext cx="457200" cy="0"/>
          </a:xfrm>
          <a:prstGeom prst="line">
            <a:avLst/>
          </a:prstGeom>
          <a:noFill/>
          <a:ln w="25400">
            <a:solidFill>
              <a:srgbClr val="1B6B7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878324" y="2180844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878324" y="2180844"/>
            <a:ext cx="13716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74116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74116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01548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01548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4800600" y="2103120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466344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493776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61772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475488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489204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502920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5335524" y="2253996"/>
            <a:ext cx="0" cy="164592"/>
          </a:xfrm>
          <a:prstGeom prst="line">
            <a:avLst/>
          </a:prstGeom>
          <a:noFill/>
          <a:ln w="1016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5335524" y="2253996"/>
            <a:ext cx="137160" cy="164592"/>
          </a:xfrm>
          <a:prstGeom prst="line">
            <a:avLst/>
          </a:prstGeom>
          <a:noFill/>
          <a:ln w="1016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5198364" y="2418588"/>
            <a:ext cx="0" cy="164592"/>
          </a:xfrm>
          <a:prstGeom prst="line">
            <a:avLst/>
          </a:prstGeom>
          <a:noFill/>
          <a:ln w="1016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5198364" y="2418588"/>
            <a:ext cx="91440" cy="164592"/>
          </a:xfrm>
          <a:prstGeom prst="line">
            <a:avLst/>
          </a:prstGeom>
          <a:noFill/>
          <a:ln w="1016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5472684" y="2418588"/>
            <a:ext cx="0" cy="164592"/>
          </a:xfrm>
          <a:prstGeom prst="line">
            <a:avLst/>
          </a:prstGeom>
          <a:noFill/>
          <a:ln w="1016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5472684" y="2418588"/>
            <a:ext cx="91440" cy="164592"/>
          </a:xfrm>
          <a:prstGeom prst="line">
            <a:avLst/>
          </a:prstGeom>
          <a:noFill/>
          <a:ln w="1016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5257800" y="2176272"/>
            <a:ext cx="155448" cy="155448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5120640" y="2340864"/>
            <a:ext cx="155448" cy="155448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5394960" y="2340864"/>
            <a:ext cx="155448" cy="155448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5074920" y="2505456"/>
            <a:ext cx="155448" cy="155448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5212080" y="2505456"/>
            <a:ext cx="155448" cy="155448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5349240" y="2505456"/>
            <a:ext cx="155448" cy="155448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5486400" y="2505456"/>
            <a:ext cx="155448" cy="155448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5792724" y="2180844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5792724" y="2180844"/>
            <a:ext cx="13716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565556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565556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592988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592988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5715000" y="2103120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557784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585216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553212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566928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580644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594360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4572000" y="2971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of trees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4572000" y="318211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each tree votes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6263640" y="2468880"/>
            <a:ext cx="502920" cy="0"/>
          </a:xfrm>
          <a:prstGeom prst="line">
            <a:avLst/>
          </a:prstGeom>
          <a:noFill/>
          <a:ln w="25400">
            <a:solidFill>
              <a:srgbClr val="1B6B7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6858000" y="2267712"/>
            <a:ext cx="1463040" cy="411480"/>
          </a:xfrm>
          <a:prstGeom prst="roundRect">
            <a:avLst>
              <a:gd name="adj" fmla="val 17778"/>
            </a:avLst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6858000" y="2286000"/>
            <a:ext cx="14630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p(stable) = 0.81</a:t>
            </a:r>
            <a:endParaRPr lang="en-US" sz="1400" dirty="0"/>
          </a:p>
        </p:txBody>
      </p:sp>
      <p:sp>
        <p:nvSpPr>
          <p:cNvPr id="81" name="Text 79"/>
          <p:cNvSpPr/>
          <p:nvPr/>
        </p:nvSpPr>
        <p:spPr>
          <a:xfrm>
            <a:off x="6858000" y="2971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6858000" y="318211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Σ of all trees' votes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457200" y="3840480"/>
            <a:ext cx="8229600" cy="77724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457200" y="3840480"/>
            <a:ext cx="64008" cy="777240"/>
          </a:xfrm>
          <a:prstGeom prst="rect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640080" y="390448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standard — fast, no GPU, mature SHAP tooling.</a:t>
            </a:r>
            <a:endParaRPr lang="en-US" sz="1300" dirty="0"/>
          </a:p>
        </p:txBody>
      </p:sp>
      <p:sp>
        <p:nvSpPr>
          <p:cNvPr id="86" name="Text 84"/>
          <p:cNvSpPr/>
          <p:nvPr/>
        </p:nvSpPr>
        <p:spPr>
          <a:xfrm>
            <a:off x="640080" y="42062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lives in the trees. Once a tree is built, it cannot be modified or removed — every tree votes on every prediction, forever.</a:t>
            </a:r>
            <a:endParaRPr lang="en-US" sz="1100" dirty="0"/>
          </a:p>
        </p:txBody>
      </p:sp>
      <p:sp>
        <p:nvSpPr>
          <p:cNvPr id="87" name="Shape 85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86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 •  MODEL FAMILY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D-MPNN graph neural networks  (Chemprop, CheMeleon)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234440" y="2148840"/>
            <a:ext cx="0" cy="320040"/>
          </a:xfrm>
          <a:prstGeom prst="line">
            <a:avLst/>
          </a:prstGeom>
          <a:noFill/>
          <a:ln w="254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234440" y="2468880"/>
            <a:ext cx="0" cy="256032"/>
          </a:xfrm>
          <a:prstGeom prst="line">
            <a:avLst/>
          </a:prstGeom>
          <a:noFill/>
          <a:ln w="254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234440" y="2468880"/>
            <a:ext cx="292608" cy="256032"/>
          </a:xfrm>
          <a:prstGeom prst="line">
            <a:avLst/>
          </a:prstGeom>
          <a:noFill/>
          <a:ln w="254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152144" y="206654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152144" y="238658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59536" y="2642616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444752" y="2642616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2926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Molecule graph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3136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atoms exchange messages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828800" y="2468880"/>
            <a:ext cx="457200" cy="0"/>
          </a:xfrm>
          <a:prstGeom prst="line">
            <a:avLst/>
          </a:prstGeom>
          <a:noFill/>
          <a:ln w="25400">
            <a:solidFill>
              <a:srgbClr val="1B6B7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377440" y="1965960"/>
            <a:ext cx="3108960" cy="1143000"/>
          </a:xfrm>
          <a:prstGeom prst="rect">
            <a:avLst/>
          </a:prstGeom>
          <a:solidFill>
            <a:srgbClr val="FCFEFE"/>
          </a:solidFill>
          <a:ln w="12700">
            <a:solidFill>
              <a:srgbClr val="1B6B7D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377440" y="16916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606040" y="2130552"/>
            <a:ext cx="114300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679192" y="2203704"/>
            <a:ext cx="996696" cy="185928"/>
          </a:xfrm>
          <a:prstGeom prst="rect">
            <a:avLst/>
          </a:prstGeom>
          <a:solidFill>
            <a:srgbClr val="D6E8EC"/>
          </a:solidFill>
          <a:ln w="635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679192" y="2426208"/>
            <a:ext cx="996696" cy="185928"/>
          </a:xfrm>
          <a:prstGeom prst="rect">
            <a:avLst/>
          </a:prstGeom>
          <a:solidFill>
            <a:srgbClr val="FFFFFF"/>
          </a:solidFill>
          <a:ln w="635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679192" y="2648712"/>
            <a:ext cx="996696" cy="185928"/>
          </a:xfrm>
          <a:prstGeom prst="rect">
            <a:avLst/>
          </a:prstGeom>
          <a:solidFill>
            <a:srgbClr val="D6E8EC"/>
          </a:solidFill>
          <a:ln w="635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468880" y="294436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message passing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840480" y="2514600"/>
            <a:ext cx="365760" cy="0"/>
          </a:xfrm>
          <a:prstGeom prst="line">
            <a:avLst/>
          </a:prstGeom>
          <a:noFill/>
          <a:ln w="19050">
            <a:solidFill>
              <a:srgbClr val="1B6B7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251960" y="2423160"/>
            <a:ext cx="118872" cy="118872"/>
          </a:xfrm>
          <a:prstGeom prst="rect">
            <a:avLst/>
          </a:prstGeom>
          <a:solidFill>
            <a:srgbClr val="1B6B7D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389120" y="2423160"/>
            <a:ext cx="118872" cy="118872"/>
          </a:xfrm>
          <a:prstGeom prst="rect">
            <a:avLst/>
          </a:prstGeom>
          <a:solidFill>
            <a:srgbClr val="1B6B7D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526280" y="2423160"/>
            <a:ext cx="118872" cy="118872"/>
          </a:xfrm>
          <a:prstGeom prst="rect">
            <a:avLst/>
          </a:prstGeom>
          <a:solidFill>
            <a:srgbClr val="1B6B7D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663440" y="2423160"/>
            <a:ext cx="118872" cy="118872"/>
          </a:xfrm>
          <a:prstGeom prst="rect">
            <a:avLst/>
          </a:prstGeom>
          <a:solidFill>
            <a:srgbClr val="1B6B7D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800600" y="2423160"/>
            <a:ext cx="118872" cy="118872"/>
          </a:xfrm>
          <a:prstGeom prst="rect">
            <a:avLst/>
          </a:prstGeom>
          <a:solidFill>
            <a:srgbClr val="1B6B7D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937760" y="2423160"/>
            <a:ext cx="118872" cy="118872"/>
          </a:xfrm>
          <a:prstGeom prst="rect">
            <a:avLst/>
          </a:prstGeom>
          <a:solidFill>
            <a:srgbClr val="1B6B7D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074920" y="2423160"/>
            <a:ext cx="118872" cy="118872"/>
          </a:xfrm>
          <a:prstGeom prst="rect">
            <a:avLst/>
          </a:prstGeom>
          <a:solidFill>
            <a:srgbClr val="1B6B7D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212080" y="2423160"/>
            <a:ext cx="118872" cy="118872"/>
          </a:xfrm>
          <a:prstGeom prst="rect">
            <a:avLst/>
          </a:prstGeom>
          <a:solidFill>
            <a:srgbClr val="1B6B7D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206240" y="294436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pooled vector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532120" y="2468880"/>
            <a:ext cx="457200" cy="0"/>
          </a:xfrm>
          <a:prstGeom prst="line">
            <a:avLst/>
          </a:prstGeom>
          <a:noFill/>
          <a:ln w="25400">
            <a:solidFill>
              <a:srgbClr val="1B6B7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126480" y="2231136"/>
            <a:ext cx="73152" cy="7315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126480" y="2432304"/>
            <a:ext cx="73152" cy="7315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126480" y="2633472"/>
            <a:ext cx="73152" cy="7315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355080" y="2331720"/>
            <a:ext cx="73152" cy="7315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355080" y="2532888"/>
            <a:ext cx="73152" cy="7315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583680" y="2432304"/>
            <a:ext cx="73152" cy="7315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199632" y="2267712"/>
            <a:ext cx="155448" cy="100584"/>
          </a:xfrm>
          <a:prstGeom prst="line">
            <a:avLst/>
          </a:prstGeom>
          <a:noFill/>
          <a:ln w="5080">
            <a:solidFill>
              <a:srgbClr val="B4530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6199632" y="2267712"/>
            <a:ext cx="155448" cy="301752"/>
          </a:xfrm>
          <a:prstGeom prst="line">
            <a:avLst/>
          </a:prstGeom>
          <a:noFill/>
          <a:ln w="5080">
            <a:solidFill>
              <a:srgbClr val="B4530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6199632" y="2468880"/>
            <a:ext cx="155448" cy="0"/>
          </a:xfrm>
          <a:prstGeom prst="line">
            <a:avLst/>
          </a:prstGeom>
          <a:noFill/>
          <a:ln w="5080">
            <a:solidFill>
              <a:srgbClr val="B4530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199632" y="2468880"/>
            <a:ext cx="155448" cy="100584"/>
          </a:xfrm>
          <a:prstGeom prst="line">
            <a:avLst/>
          </a:prstGeom>
          <a:noFill/>
          <a:ln w="5080">
            <a:solidFill>
              <a:srgbClr val="B4530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199632" y="2670048"/>
            <a:ext cx="155448" cy="0"/>
          </a:xfrm>
          <a:prstGeom prst="line">
            <a:avLst/>
          </a:prstGeom>
          <a:noFill/>
          <a:ln w="5080">
            <a:solidFill>
              <a:srgbClr val="B4530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6199632" y="2670048"/>
            <a:ext cx="155448" cy="0"/>
          </a:xfrm>
          <a:prstGeom prst="line">
            <a:avLst/>
          </a:prstGeom>
          <a:noFill/>
          <a:ln w="5080">
            <a:solidFill>
              <a:srgbClr val="B4530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6428232" y="2368296"/>
            <a:ext cx="155448" cy="100584"/>
          </a:xfrm>
          <a:prstGeom prst="line">
            <a:avLst/>
          </a:prstGeom>
          <a:noFill/>
          <a:ln w="5080">
            <a:solidFill>
              <a:srgbClr val="B4530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6428232" y="2569464"/>
            <a:ext cx="155448" cy="0"/>
          </a:xfrm>
          <a:prstGeom prst="line">
            <a:avLst/>
          </a:prstGeom>
          <a:noFill/>
          <a:ln w="5080">
            <a:solidFill>
              <a:srgbClr val="B4530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035040" y="29260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FFN head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035040" y="313639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B45309"/>
                </a:solidFill>
              </a:rPr>
              <a:t>replaceable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903720" y="2468880"/>
            <a:ext cx="320040" cy="0"/>
          </a:xfrm>
          <a:prstGeom prst="line">
            <a:avLst/>
          </a:prstGeom>
          <a:noFill/>
          <a:ln w="25400">
            <a:solidFill>
              <a:srgbClr val="1B6B7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7269480" y="2258568"/>
            <a:ext cx="1417320" cy="411480"/>
          </a:xfrm>
          <a:prstGeom prst="roundRect">
            <a:avLst>
              <a:gd name="adj" fmla="val 17778"/>
            </a:avLst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7269480" y="2276856"/>
            <a:ext cx="14173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p(stable) = 0.81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7269480" y="29260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3840480"/>
            <a:ext cx="8229600" cy="77724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457200" y="3840480"/>
            <a:ext cx="64008" cy="77724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640080" y="390448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separable parts: an encoder that learns chemistry, a head that makes the call.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640080" y="42062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encoder builds a vocabulary of molecular features (functional groups, ring systems) — the head maps that vocabulary to whatever target you care about.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CENTRAL DISTINCTION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carried over when you transfer?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8229600" cy="32918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417320"/>
            <a:ext cx="8092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 •  decision-boundary transfer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(RLM)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09244" y="2180844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09244" y="2180844"/>
            <a:ext cx="13716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7208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7208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94640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94640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31520" y="2103120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9436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6868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4864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8580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2296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96012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312164" y="2235708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312164" y="2235708"/>
            <a:ext cx="13716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75004" y="2400300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75004" y="2400300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449324" y="2400300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449324" y="2400300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234440" y="215798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097280" y="2322576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371600" y="2322576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051560" y="2487168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1188720" y="2487168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1325880" y="2487168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1463040" y="2487168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1815084" y="2180844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815084" y="2180844"/>
            <a:ext cx="13716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67792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167792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195224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195224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1737360" y="2103120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160020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187452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155448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169164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182880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196596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457200" y="26060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source trees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194560" y="2331720"/>
            <a:ext cx="82296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2103120" y="205740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continue boosting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200400" y="1828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(HLM / PAMPA)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506724" y="2180844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3506724" y="2180844"/>
            <a:ext cx="13716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336956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336956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364388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364388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3429000" y="2103120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329184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356616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324612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338328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352044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365760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4009644" y="2235708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4009644" y="2235708"/>
            <a:ext cx="13716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3872484" y="2400300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3872484" y="2400300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4146804" y="2400300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4146804" y="2400300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3931920" y="215798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3794760" y="2322576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4069080" y="2322576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3749040" y="2487168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3886200" y="2487168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4023360" y="2487168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4160520" y="2487168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4512564" y="2180844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4512564" y="2180844"/>
            <a:ext cx="13716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437540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437540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4649724" y="2345436"/>
            <a:ext cx="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4649724" y="2345436"/>
            <a:ext cx="91440" cy="164592"/>
          </a:xfrm>
          <a:prstGeom prst="line">
            <a:avLst/>
          </a:prstGeom>
          <a:noFill/>
          <a:ln w="1016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4434840" y="2103120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429768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4572000" y="2267712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425196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438912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452628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4663440" y="2432304"/>
            <a:ext cx="155448" cy="155448"/>
          </a:xfrm>
          <a:prstGeom prst="ellipse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5061204" y="2235708"/>
            <a:ext cx="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5061204" y="2235708"/>
            <a:ext cx="13716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4924044" y="2400300"/>
            <a:ext cx="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4924044" y="2400300"/>
            <a:ext cx="9144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5198364" y="2400300"/>
            <a:ext cx="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5198364" y="2400300"/>
            <a:ext cx="9144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4983480" y="2157984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4846320" y="2322576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5120640" y="2322576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4800600" y="2487168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4937760" y="2487168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5074920" y="2487168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5212080" y="2487168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5564124" y="2180844"/>
            <a:ext cx="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5564124" y="2180844"/>
            <a:ext cx="13716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5426964" y="2345436"/>
            <a:ext cx="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5426964" y="2345436"/>
            <a:ext cx="9144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5701284" y="2345436"/>
            <a:ext cx="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5701284" y="2345436"/>
            <a:ext cx="91440" cy="164592"/>
          </a:xfrm>
          <a:prstGeom prst="line">
            <a:avLst/>
          </a:prstGeom>
          <a:noFill/>
          <a:ln w="1016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5486400" y="2103120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5349240" y="2267712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5623560" y="2267712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5303520" y="2432304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5440680" y="2432304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5577840" y="2432304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5715000" y="2432304"/>
            <a:ext cx="155448" cy="1554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Text 113"/>
          <p:cNvSpPr/>
          <p:nvPr/>
        </p:nvSpPr>
        <p:spPr>
          <a:xfrm>
            <a:off x="3154680" y="260604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source trees stay  +  new</a:t>
            </a:r>
            <a:endParaRPr lang="en-US" sz="900" dirty="0"/>
          </a:p>
        </p:txBody>
      </p:sp>
      <p:sp>
        <p:nvSpPr>
          <p:cNvPr id="116" name="Shape 114"/>
          <p:cNvSpPr/>
          <p:nvPr/>
        </p:nvSpPr>
        <p:spPr>
          <a:xfrm>
            <a:off x="6263640" y="1801368"/>
            <a:ext cx="2423160" cy="1060704"/>
          </a:xfrm>
          <a:prstGeom prst="rect">
            <a:avLst/>
          </a:prstGeom>
          <a:solidFill>
            <a:srgbClr val="FEE2E2"/>
          </a:solidFill>
          <a:ln w="952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Text 115"/>
          <p:cNvSpPr/>
          <p:nvPr/>
        </p:nvSpPr>
        <p:spPr>
          <a:xfrm>
            <a:off x="6355080" y="184708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Inherited:</a:t>
            </a:r>
            <a:endParaRPr lang="en-US" sz="900" dirty="0"/>
          </a:p>
        </p:txBody>
      </p:sp>
      <p:sp>
        <p:nvSpPr>
          <p:cNvPr id="118" name="Text 116"/>
          <p:cNvSpPr/>
          <p:nvPr/>
        </p:nvSpPr>
        <p:spPr>
          <a:xfrm>
            <a:off x="6355080" y="20299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task-specific decisions</a:t>
            </a:r>
            <a:endParaRPr lang="en-US" sz="1300" dirty="0"/>
          </a:p>
        </p:txBody>
      </p:sp>
      <p:sp>
        <p:nvSpPr>
          <p:cNvPr id="119" name="Text 117"/>
          <p:cNvSpPr/>
          <p:nvPr/>
        </p:nvSpPr>
        <p:spPr>
          <a:xfrm>
            <a:off x="6355080" y="23317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"substructure X ⇒ unstable" — and old trees can't be unlearned.</a:t>
            </a:r>
            <a:endParaRPr lang="en-US" sz="900" dirty="0"/>
          </a:p>
        </p:txBody>
      </p:sp>
      <p:sp>
        <p:nvSpPr>
          <p:cNvPr id="120" name="Shape 118"/>
          <p:cNvSpPr/>
          <p:nvPr/>
        </p:nvSpPr>
        <p:spPr>
          <a:xfrm>
            <a:off x="457200" y="3154680"/>
            <a:ext cx="8229600" cy="32918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Text 119"/>
          <p:cNvSpPr/>
          <p:nvPr/>
        </p:nvSpPr>
        <p:spPr>
          <a:xfrm>
            <a:off x="594360" y="3154680"/>
            <a:ext cx="8092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D-MPNN  •  representation transfer</a:t>
            </a:r>
            <a:endParaRPr lang="en-US" sz="1300" dirty="0"/>
          </a:p>
        </p:txBody>
      </p:sp>
      <p:sp>
        <p:nvSpPr>
          <p:cNvPr id="122" name="Text 120"/>
          <p:cNvSpPr/>
          <p:nvPr/>
        </p:nvSpPr>
        <p:spPr>
          <a:xfrm>
            <a:off x="457200" y="35661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(RLM)</a:t>
            </a:r>
            <a:endParaRPr lang="en-US" sz="900" dirty="0"/>
          </a:p>
        </p:txBody>
      </p:sp>
      <p:sp>
        <p:nvSpPr>
          <p:cNvPr id="123" name="Shape 121"/>
          <p:cNvSpPr/>
          <p:nvPr/>
        </p:nvSpPr>
        <p:spPr>
          <a:xfrm>
            <a:off x="502920" y="3822192"/>
            <a:ext cx="1280160" cy="50292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Text 122"/>
          <p:cNvSpPr/>
          <p:nvPr/>
        </p:nvSpPr>
        <p:spPr>
          <a:xfrm>
            <a:off x="502920" y="38404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100" dirty="0"/>
          </a:p>
        </p:txBody>
      </p:sp>
      <p:sp>
        <p:nvSpPr>
          <p:cNvPr id="125" name="Shape 123"/>
          <p:cNvSpPr/>
          <p:nvPr/>
        </p:nvSpPr>
        <p:spPr>
          <a:xfrm>
            <a:off x="1874520" y="3849624"/>
            <a:ext cx="868680" cy="457200"/>
          </a:xfrm>
          <a:prstGeom prst="roundRect">
            <a:avLst>
              <a:gd name="adj" fmla="val 10000"/>
            </a:avLst>
          </a:prstGeom>
          <a:solidFill>
            <a:srgbClr val="E2E8F0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 124"/>
          <p:cNvSpPr/>
          <p:nvPr/>
        </p:nvSpPr>
        <p:spPr>
          <a:xfrm>
            <a:off x="1874520" y="3858768"/>
            <a:ext cx="868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</a:t>
            </a:r>
            <a:endParaRPr lang="en-US" sz="1000" dirty="0"/>
          </a:p>
        </p:txBody>
      </p:sp>
      <p:sp>
        <p:nvSpPr>
          <p:cNvPr id="127" name="Shape 125"/>
          <p:cNvSpPr/>
          <p:nvPr/>
        </p:nvSpPr>
        <p:spPr>
          <a:xfrm>
            <a:off x="1920240" y="3877056"/>
            <a:ext cx="777240" cy="41148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>
            <a:off x="1920240" y="4288536"/>
            <a:ext cx="777240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>
            <a:off x="2926080" y="4078224"/>
            <a:ext cx="59436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 128"/>
          <p:cNvSpPr/>
          <p:nvPr/>
        </p:nvSpPr>
        <p:spPr>
          <a:xfrm>
            <a:off x="2788920" y="380390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swap head</a:t>
            </a:r>
            <a:endParaRPr lang="en-US" sz="900" dirty="0"/>
          </a:p>
        </p:txBody>
      </p:sp>
      <p:sp>
        <p:nvSpPr>
          <p:cNvPr id="131" name="Text 129"/>
          <p:cNvSpPr/>
          <p:nvPr/>
        </p:nvSpPr>
        <p:spPr>
          <a:xfrm>
            <a:off x="3657600" y="35661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(HLM / PAMPA)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3703320" y="3822192"/>
            <a:ext cx="1280160" cy="50292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Text 131"/>
          <p:cNvSpPr/>
          <p:nvPr/>
        </p:nvSpPr>
        <p:spPr>
          <a:xfrm>
            <a:off x="3703320" y="38404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100" dirty="0"/>
          </a:p>
        </p:txBody>
      </p:sp>
      <p:sp>
        <p:nvSpPr>
          <p:cNvPr id="134" name="Text 132"/>
          <p:cNvSpPr/>
          <p:nvPr/>
        </p:nvSpPr>
        <p:spPr>
          <a:xfrm>
            <a:off x="3703320" y="433425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F4C5C"/>
                </a:solidFill>
              </a:rPr>
              <a:t>(kept)</a:t>
            </a:r>
            <a:endParaRPr lang="en-US" sz="900" dirty="0"/>
          </a:p>
        </p:txBody>
      </p:sp>
      <p:sp>
        <p:nvSpPr>
          <p:cNvPr id="135" name="Shape 133"/>
          <p:cNvSpPr/>
          <p:nvPr/>
        </p:nvSpPr>
        <p:spPr>
          <a:xfrm>
            <a:off x="5074920" y="3849624"/>
            <a:ext cx="1005840" cy="457200"/>
          </a:xfrm>
          <a:prstGeom prst="roundRect">
            <a:avLst>
              <a:gd name="adj" fmla="val 10000"/>
            </a:avLst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Text 134"/>
          <p:cNvSpPr/>
          <p:nvPr/>
        </p:nvSpPr>
        <p:spPr>
          <a:xfrm>
            <a:off x="5074920" y="38587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head</a:t>
            </a:r>
            <a:endParaRPr lang="en-US" sz="1000" dirty="0"/>
          </a:p>
        </p:txBody>
      </p:sp>
      <p:sp>
        <p:nvSpPr>
          <p:cNvPr id="137" name="Text 135"/>
          <p:cNvSpPr/>
          <p:nvPr/>
        </p:nvSpPr>
        <p:spPr>
          <a:xfrm>
            <a:off x="5074920" y="43342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47857"/>
                </a:solidFill>
              </a:rPr>
              <a:t>(fresh)</a:t>
            </a:r>
            <a:endParaRPr lang="en-US" sz="900" dirty="0"/>
          </a:p>
        </p:txBody>
      </p:sp>
      <p:sp>
        <p:nvSpPr>
          <p:cNvPr id="138" name="Shape 136"/>
          <p:cNvSpPr/>
          <p:nvPr/>
        </p:nvSpPr>
        <p:spPr>
          <a:xfrm>
            <a:off x="6263640" y="3538728"/>
            <a:ext cx="2423160" cy="1060704"/>
          </a:xfrm>
          <a:prstGeom prst="rect">
            <a:avLst/>
          </a:prstGeom>
          <a:solidFill>
            <a:srgbClr val="DCFCE7"/>
          </a:solidFill>
          <a:ln w="9525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Text 137"/>
          <p:cNvSpPr/>
          <p:nvPr/>
        </p:nvSpPr>
        <p:spPr>
          <a:xfrm>
            <a:off x="6355080" y="358444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Inherited:</a:t>
            </a:r>
            <a:endParaRPr lang="en-US" sz="900" dirty="0"/>
          </a:p>
        </p:txBody>
      </p:sp>
      <p:sp>
        <p:nvSpPr>
          <p:cNvPr id="140" name="Text 138"/>
          <p:cNvSpPr/>
          <p:nvPr/>
        </p:nvSpPr>
        <p:spPr>
          <a:xfrm>
            <a:off x="6355080" y="37673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task-general features</a:t>
            </a:r>
            <a:endParaRPr lang="en-US" sz="1300" dirty="0"/>
          </a:p>
        </p:txBody>
      </p:sp>
      <p:sp>
        <p:nvSpPr>
          <p:cNvPr id="141" name="Text 139"/>
          <p:cNvSpPr/>
          <p:nvPr/>
        </p:nvSpPr>
        <p:spPr>
          <a:xfrm>
            <a:off x="6355080" y="4069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groups, ring systems — chemistry, not decisions. New head = clean slate.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Text 141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44" name="Text 142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NCATS ADME endpoints — one source, two targets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560320" cy="3108960"/>
          </a:xfrm>
          <a:prstGeom prst="rect">
            <a:avLst/>
          </a:prstGeom>
          <a:solidFill>
            <a:srgbClr val="D6E8EC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508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783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RLM Stability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94360" y="2240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 liver microsomal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metabolic stability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8803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2,529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</a:t>
            </a:r>
            <a:endParaRPr lang="en-US" sz="18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/ 70%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/ unstable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94360" y="4069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to pre-train every architecture.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08960" y="2971800"/>
            <a:ext cx="365760" cy="0"/>
          </a:xfrm>
          <a:prstGeom prst="line">
            <a:avLst/>
          </a:prstGeom>
          <a:noFill/>
          <a:ln w="25400">
            <a:solidFill>
              <a:srgbClr val="1B6B7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657600" y="1417320"/>
            <a:ext cx="2560320" cy="3108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794760" y="1508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1  •  RELATED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794760" y="1783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HLM Stability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794760" y="2240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liver microsomal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metabolic stability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794760" y="28803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</a:t>
            </a:r>
            <a:endParaRPr lang="en-US" sz="18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/ 40%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/ unstable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794760" y="40233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biochemistry, different species —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expect transfer to help.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09360" y="1417320"/>
            <a:ext cx="2377440" cy="3108960"/>
          </a:xfrm>
          <a:prstGeom prst="rect">
            <a:avLst/>
          </a:prstGeom>
          <a:solidFill>
            <a:srgbClr val="FFFFFF"/>
          </a:solidFill>
          <a:ln w="1905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4652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2  •  UNRELATED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46520" y="1783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PAMPA pH 7.4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446520" y="22402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membrane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permeability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46520" y="2880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2,033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</a:t>
            </a:r>
            <a:endParaRPr lang="en-US" sz="18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/ 14%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permeable / not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46520" y="4023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Lipophilicity, not metabolism —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expect transfer to be useless or harmful.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108960" y="2971800"/>
            <a:ext cx="3200400" cy="0"/>
          </a:xfrm>
          <a:prstGeom prst="line">
            <a:avLst/>
          </a:prstGeom>
          <a:noFill/>
          <a:ln w="12700">
            <a:solidFill>
              <a:srgbClr val="1B6B7D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IN ONE GLANCE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keep the comparisons honest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657600" cy="320040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657600" cy="36576"/>
          </a:xfrm>
          <a:prstGeom prst="rect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× 5 cross-validation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7830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train/test splits per endpoint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17320" y="2423160"/>
            <a:ext cx="347472" cy="292608"/>
          </a:xfrm>
          <a:prstGeom prst="rect">
            <a:avLst/>
          </a:prstGeom>
          <a:solidFill>
            <a:srgbClr val="FCD34D"/>
          </a:solidFill>
          <a:ln w="9525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417320" y="2752344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417320" y="3081528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417320" y="3410712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417320" y="3739896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801368" y="2423160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801368" y="2752344"/>
            <a:ext cx="347472" cy="292608"/>
          </a:xfrm>
          <a:prstGeom prst="rect">
            <a:avLst/>
          </a:prstGeom>
          <a:solidFill>
            <a:srgbClr val="FCD34D"/>
          </a:solidFill>
          <a:ln w="9525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801368" y="3081528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801368" y="3410712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801368" y="3739896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185416" y="2423160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185416" y="2752344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185416" y="3081528"/>
            <a:ext cx="347472" cy="292608"/>
          </a:xfrm>
          <a:prstGeom prst="rect">
            <a:avLst/>
          </a:prstGeom>
          <a:solidFill>
            <a:srgbClr val="FCD34D"/>
          </a:solidFill>
          <a:ln w="9525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185416" y="3410712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185416" y="3739896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569464" y="2423160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569464" y="2752344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569464" y="3081528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569464" y="3410712"/>
            <a:ext cx="347472" cy="292608"/>
          </a:xfrm>
          <a:prstGeom prst="rect">
            <a:avLst/>
          </a:prstGeom>
          <a:solidFill>
            <a:srgbClr val="FCD34D"/>
          </a:solidFill>
          <a:ln w="9525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569464" y="3739896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953512" y="2423160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953512" y="2752344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953512" y="3081528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2953512" y="3410712"/>
            <a:ext cx="347472" cy="292608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2953512" y="3739896"/>
            <a:ext cx="347472" cy="292608"/>
          </a:xfrm>
          <a:prstGeom prst="rect">
            <a:avLst/>
          </a:prstGeom>
          <a:solidFill>
            <a:srgbClr val="FCD34D"/>
          </a:solidFill>
          <a:ln w="9525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417320" y="213055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</a:rPr>
              <a:t>5 replicates →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77240" y="3108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4748B"/>
                </a:solidFill>
              </a:rPr>
              <a:t>5 folds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417320" y="4233672"/>
            <a:ext cx="164592" cy="146304"/>
          </a:xfrm>
          <a:prstGeom prst="rect">
            <a:avLst/>
          </a:prstGeom>
          <a:solidFill>
            <a:srgbClr val="FCD34D"/>
          </a:solidFill>
          <a:ln w="9525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618488" y="42153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fold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331720" y="4233672"/>
            <a:ext cx="164592" cy="146304"/>
          </a:xfrm>
          <a:prstGeom prst="rect">
            <a:avLst/>
          </a:prstGeom>
          <a:solidFill>
            <a:srgbClr val="D6E8EC"/>
          </a:solidFill>
          <a:ln w="9525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532888" y="42153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fold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0080" y="4434840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splits across all model variants — paired comparisons.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297680" y="1417320"/>
            <a:ext cx="4389120" cy="978408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4297680" y="1417320"/>
            <a:ext cx="54864" cy="978408"/>
          </a:xfrm>
          <a:prstGeom prst="rect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462272" y="150876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Chemical-space splits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462272" y="180136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Morgan FPs → PaCMAP → KMeans clusters as fold groups. Test compounds occupy distinct regions of chemical space — no structural-similarity leakage.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297680" y="2514600"/>
            <a:ext cx="4389120" cy="978408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4297680" y="2514600"/>
            <a:ext cx="54864" cy="978408"/>
          </a:xfrm>
          <a:prstGeom prst="rect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4462272" y="260604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Tukey HSD, FWER = 0.05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4462272" y="289864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Family-wise error control. Reported significant differences have ≤ 5% false-positive risk even after correcting for many pairwise comparisons.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297680" y="3611880"/>
            <a:ext cx="4389120" cy="978408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4297680" y="3611880"/>
            <a:ext cx="54864" cy="978408"/>
          </a:xfrm>
          <a:prstGeom prst="rect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4462272" y="37033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AUC-PR as primary metric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4462272" y="399592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PAMPA is 86% positive. AUC-PR is sensitive to minority-class errors; the random-classifier baseline equals the positive-class prevalence.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1  •  RELATED TRANSFER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RLM → HLM: same biochemistry, different species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expect transfer to work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endpoints measure how quickly liver microsome enzymes (mostly CYP450s) break down a compound.</a:t>
            </a:r>
            <a:endParaRPr lang="en-US" sz="13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CYP isoform profiles differ between rat and human, but the rules of metabolic vulnerability — labile amines, benzylic positions, electron-rich aromatics — are largely shared.</a:t>
            </a:r>
            <a:endParaRPr lang="en-US" sz="13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medicinal chemist would expect knowledge of "what makes a molecule labile" to carry over.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303520" y="1417320"/>
            <a:ext cx="3383280" cy="310896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40680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OVERLAP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40680" y="1828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RLM ∩ HLM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40680" y="233172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molecules</a:t>
            </a: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(5.6% of HLM)</a:t>
            </a:r>
            <a:endParaRPr lang="en-US" sz="2600" dirty="0"/>
          </a:p>
          <a:p>
            <a:pPr marL="0" indent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 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scaffolds</a:t>
            </a: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(12.9% of HLM)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440680" y="36576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molecule overlap → benefit can't be simple memorization. Some scaffold familiarity — but most HLM scaffolds (87%) are unseen during RLM training.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1  • 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helps almost every architecture on HLM</a:t>
            </a:r>
            <a:endParaRPr lang="en-US" sz="2600" dirty="0"/>
          </a:p>
        </p:txBody>
      </p:sp>
      <p:pic>
        <p:nvPicPr>
          <p:cNvPr id="4" name="Image 0" descr="/sessions/nifty-eager-edison/mnt/xfer-learning/docs/figures/boxplots-hlm-auc-p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71600"/>
            <a:ext cx="5577840" cy="27980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25196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AUC-PR across 25 CV folds. Dotted line = random baseline (0.602).  Best: Chemprop RLM-transfer at 0.831.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126480" y="1371600"/>
            <a:ext cx="2651760" cy="320040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263640" y="1463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DELTAS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26364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 continue-boost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6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+0.059  </a:t>
            </a:r>
            <a:r>
              <a:rPr lang="en-US" sz="11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helps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Chemprop transfer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6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+0.038  </a:t>
            </a:r>
            <a:r>
              <a:rPr lang="en-US" sz="11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helps (best)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CheMeleon double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6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+0.016  </a:t>
            </a:r>
            <a:r>
              <a:rPr lang="en-US" sz="11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helps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 feature-prior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+0.001  </a:t>
            </a: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inert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1  •  WHAT THE MODELS LEARNED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RLM pre-training sharpens the encoder's attention to known metabolic substructures</a:t>
            </a:r>
            <a:endParaRPr lang="en-US" sz="2600" dirty="0"/>
          </a:p>
        </p:txBody>
      </p:sp>
      <p:pic>
        <p:nvPicPr>
          <p:cNvPr id="4" name="Image 0" descr="/sessions/nifty-eager-edison/mnt/xfer-learning/docs/figures/hlm-chemprop-scratch-vs-transfer-aggre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25880"/>
            <a:ext cx="5943600" cy="2697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06908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Chemprop atom-type saliency, top 10. Aggregated across 25 CV folds; numbers in italics show how often each feature appeared in the top 10.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6492240" y="1325880"/>
            <a:ext cx="2286000" cy="320040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629400" y="1417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629400" y="1737360"/>
            <a:ext cx="2011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Nitrogen environments dominate either way — robust HLM drivers regardless of pre-training.</a:t>
            </a:r>
            <a:endParaRPr lang="en-US" sz="11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Sulfur attention rises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RLM pre-training. Thioethers and sulfonamides are CYP substrates — the bias is chemistry, not noise.</a:t>
            </a:r>
            <a:endParaRPr lang="en-US" sz="11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encoder gains a sharper vocabulary for metabolically vulnerable groups.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2  •  UNRELATED TRANSFER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RLM → PAMPA: same molecules, different physics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expect transfer to fail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PAMPA pH 7.4 measures passive membrane permeability through an artificial phospholipid bilayer.</a:t>
            </a:r>
            <a:endParaRPr lang="en-US" sz="13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depends on lipophilicity, molecular size, and H-bond donor/acceptor count — not on metabolic vulnerability.</a:t>
            </a:r>
            <a:endParaRPr lang="en-US" sz="13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compound can be highly permeable but metabolically unstable, or vice-versa. The properties are orthogonal.</a:t>
            </a:r>
            <a:endParaRPr lang="en-US" sz="1300" dirty="0"/>
          </a:p>
        </p:txBody>
      </p:sp>
      <p:pic>
        <p:nvPicPr>
          <p:cNvPr id="6" name="Image 0" descr="/sessions/nifty-eager-edison/mnt/xfer-learning/docs/figures/eda-correlation-rlm-pamp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417320"/>
            <a:ext cx="3291840" cy="27157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394960" y="4160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correlation between RLM and PAMPA values across 985 shared compounds.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57200" y="4251960"/>
            <a:ext cx="4572000" cy="365760"/>
          </a:xfrm>
          <a:prstGeom prst="rect">
            <a:avLst/>
          </a:prstGeom>
          <a:solidFill>
            <a:srgbClr val="D6E8EC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48640" y="426110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99.5% molecule overlap, 0% target correlation — a clean test of representation vs. decision transfer.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2  • 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continue-boosting collapses to random; everything else is fine</a:t>
            </a:r>
            <a:endParaRPr lang="en-US" sz="2600" dirty="0"/>
          </a:p>
        </p:txBody>
      </p:sp>
      <p:pic>
        <p:nvPicPr>
          <p:cNvPr id="4" name="Image 0" descr="/sessions/nifty-eager-edison/mnt/xfer-learning/docs/figures/boxplots-pampa-auc-p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71600"/>
            <a:ext cx="5577840" cy="27980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20624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AUC-PR across 25 CV folds. Dotted line = positive-class prevalence (0.855) — the random-classifier baseline.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6126480" y="1371600"/>
            <a:ext cx="2651760" cy="1417320"/>
          </a:xfrm>
          <a:prstGeom prst="rect">
            <a:avLst/>
          </a:prstGeom>
          <a:solidFill>
            <a:srgbClr val="FEE2E2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217920" y="14447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RLM-transfer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217920" y="169164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0.853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6217920" y="23317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at the random baseline.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-0.057 drop from scratch.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126480" y="2926080"/>
            <a:ext cx="2651760" cy="169164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217920" y="29992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model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217920" y="3246120"/>
            <a:ext cx="2468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 scratch </a:t>
            </a: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0.910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 feature-prior </a:t>
            </a: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0.918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Chemprop transfer </a:t>
            </a: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0.925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CheMeleon frozen </a:t>
            </a: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0.922</a:t>
            </a:r>
            <a:endParaRPr lang="en-US" sz="1100" dirty="0"/>
          </a:p>
          <a:p>
            <a:pPr marL="0" indent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100" dirty="0"/>
          </a:p>
          <a:p>
            <a:pPr marL="0" indent="0">
              <a:buNone/>
            </a:pPr>
            <a:r>
              <a:rPr lang="en-US" sz="10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 the top statistical group.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2  •  DIAGNOSIS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XGBoost broke and Chemprop didn't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4023360" cy="45720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4630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XGBoost: inherited the wrong call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3703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Nitrogen-containing fragments learned in RLM as "metabolically unstable" got carried into PAMPA as "impermeable."</a:t>
            </a:r>
            <a:endParaRPr lang="en-US" sz="12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association. The new PAMPA trees can't delete or modify the old ones — they just have to fight against them.</a:t>
            </a:r>
            <a:endParaRPr lang="en-US" sz="12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200" dirty="0"/>
          </a:p>
          <a:p>
            <a:pPr marL="0" indent="0">
              <a:buNone/>
            </a:pPr>
            <a:r>
              <a:rPr lang="en-US" sz="1100" i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doubling the fine-tune budget doesn't help: the structural cost is permanent.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41732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663440" y="1417320"/>
            <a:ext cx="4023360" cy="45720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00600" y="14630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Chemprop: re-routes around the noise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2011680"/>
            <a:ext cx="3703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encoder shifts visibly — sulfur attention up, aromatic nitrogen up — yet the new FFN head still finds a working mapping.</a:t>
            </a:r>
            <a:endParaRPr lang="en-US" sz="12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perturbation to internal features, no degradation in performance (+0.008, n.s.).</a:t>
            </a:r>
            <a:endParaRPr lang="en-US" sz="12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</a:t>
            </a:r>
            <a:endParaRPr lang="en-US" sz="1200" dirty="0"/>
          </a:p>
          <a:p>
            <a:pPr marL="0" indent="0">
              <a:buNone/>
            </a:pPr>
            <a:r>
              <a:rPr lang="en-US" sz="11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 transfer doesn't bake in target-specific decisions, so it's safe to inherit even when the source is wrong.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PROTOCOL SPECTRUM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flavors of transfer — and only one is both safe and useful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697480" y="144475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HLM Δ AUC-PR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251960" y="144475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PAMPA Δ AUC-PR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806440" y="1444752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/ reward profile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82296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1901952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Decision-boundary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(XGB continue-boost)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651760" y="199339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+0.059</a:t>
            </a:r>
            <a:r>
              <a:rPr lang="en-US" sz="10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helps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206240" y="199339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−0.057</a:t>
            </a:r>
            <a:r>
              <a:rPr lang="en-US" sz="1000" i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catastrophic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760720" y="199339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· high-reward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697480"/>
            <a:ext cx="8229600" cy="822960"/>
          </a:xfrm>
          <a:prstGeom prst="rect">
            <a:avLst/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8640" y="2770632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(D-MPNN encoder)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651760" y="286207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+0.038</a:t>
            </a:r>
            <a:r>
              <a:rPr lang="en-US" sz="10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helps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206240" y="286207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+0.008</a:t>
            </a: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neutral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760720" y="286207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Low-risk · moderate-reward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566160"/>
            <a:ext cx="82296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8640" y="3639312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Feature-importance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(XGB feature-prior)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651760" y="373075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+0.001</a:t>
            </a: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inert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206240" y="373075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+0.000</a:t>
            </a: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inert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760720" y="373075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Zero-risk · zero-reward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 transfer is the only protocol that gains from related sources without losing on unrelated ones.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EFFICIENCY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foundation model needs a quarter of the data to match XGBoost</a:t>
            </a:r>
            <a:endParaRPr lang="en-US" sz="2600" dirty="0"/>
          </a:p>
        </p:txBody>
      </p:sp>
      <p:pic>
        <p:nvPicPr>
          <p:cNvPr id="4" name="Image 0" descr="/sessions/nifty-eager-edison/mnt/xfer-learning/docs/figures/data-efficiency-all-endpoi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17320"/>
            <a:ext cx="7772400" cy="25511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398678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AUC-PR ± SEM across 25 CV folds at 1, 10, 25, 50, 75, 100% of training data. Asterisks = top statistical group.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365760" y="4297680"/>
            <a:ext cx="7772400" cy="411480"/>
          </a:xfrm>
          <a:prstGeom prst="rect">
            <a:avLst/>
          </a:prstGeom>
          <a:solidFill>
            <a:srgbClr val="D6E8EC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4306824"/>
            <a:ext cx="7589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25% of the data, CheMeleon-frozen already matches XGBoost at 100% — and the gap only widens.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7F0C0-8202-D1BA-A79D-CA6566E8E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6EF5FC2-B5E4-9737-BE23-3CAF499DCAFA}"/>
              </a:ext>
            </a:extLst>
          </p:cNvPr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EFFICIENCY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2B0C23E-1585-3E88-6BF5-A2F92EEF24EF}"/>
              </a:ext>
            </a:extLst>
          </p:cNvPr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all foundation models perform well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945ADD6D-CAAF-688E-872B-479FC15BCB28}"/>
              </a:ext>
            </a:extLst>
          </p:cNvPr>
          <p:cNvSpPr/>
          <p:nvPr/>
        </p:nvSpPr>
        <p:spPr>
          <a:xfrm>
            <a:off x="365760" y="398678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AUC-PR ± SEM across 25 CV folds at 1, 10, 25, 50, 75, 100% of training data. Asterisks = top statistical group.</a:t>
            </a:r>
            <a:endParaRPr lang="en-US" sz="900" dirty="0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BE9EBFEA-C4A6-0356-90DA-C1229FFD038F}"/>
              </a:ext>
            </a:extLst>
          </p:cNvPr>
          <p:cNvSpPr/>
          <p:nvPr/>
        </p:nvSpPr>
        <p:spPr>
          <a:xfrm>
            <a:off x="365760" y="4297680"/>
            <a:ext cx="7772400" cy="411480"/>
          </a:xfrm>
          <a:prstGeom prst="rect">
            <a:avLst/>
          </a:prstGeom>
          <a:solidFill>
            <a:srgbClr val="D6E8EC"/>
          </a:solidFill>
          <a:ln w="635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3B2FF80D-0C5A-5750-8583-271BFD8E3B04}"/>
              </a:ext>
            </a:extLst>
          </p:cNvPr>
          <p:cNvSpPr/>
          <p:nvPr/>
        </p:nvSpPr>
        <p:spPr>
          <a:xfrm>
            <a:off x="457200" y="4306824"/>
            <a:ext cx="7589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 is another deep-learned foundation model, totally different training data, process, and size (it’s 20x bigger!); why is it worse? Hard to say. Could be Chemeleon was trained on data more similar to these objectives.</a:t>
            </a:r>
            <a:endParaRPr lang="en-US" sz="120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B7E44589-B837-CAD5-35AA-95E1766A9D6E}"/>
              </a:ext>
            </a:extLst>
          </p:cNvPr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EF6D6FF-1AD1-4260-43A4-F1CA7B89425A}"/>
              </a:ext>
            </a:extLst>
          </p:cNvPr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E336456-6DDD-C3D4-96AF-188957C1BBFF}"/>
              </a:ext>
            </a:extLst>
          </p:cNvPr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04886E8-7496-8AB8-94EA-7D14430AD4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845" y="1417320"/>
            <a:ext cx="8409186" cy="2485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8739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RECOMMENDATION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choose for your next ADME pipeline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517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651760" cy="502920"/>
          </a:xfrm>
          <a:prstGeom prst="rect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4630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14630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Quick, single endpoint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2011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thousand compounds, no transfer ambitions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237744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on Morgan FPs is still the right first model. Trains in seconds, no GPU, mature SHAP tooling.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417320"/>
            <a:ext cx="26517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46120" y="1417320"/>
            <a:ext cx="2651760" cy="50292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83280" y="14630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794760" y="14630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transfer pipeline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83280" y="2011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Reusing knowledge across endpoints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83280" y="237744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deep learned networks. Representation transfer is the only protocol that is both safe on unrelated sources and beneficial on related ones.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35040" y="1417320"/>
            <a:ext cx="26517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035040" y="1417320"/>
            <a:ext cx="2651760" cy="50292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172200" y="14630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83680" y="14630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scarce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172200" y="2011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~500 task-specific compounds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72200" y="237744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frozen foundation model (CheMeleon, MIST, etc.). However, performance may not improve as desired…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CAVEATS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not test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6576" cy="68580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hyperparameter tuning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7099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use library defaults. The relative rankings — and especially the transfer failure modes — are structural, but absolute performance numbers could shift with tuning.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36576" cy="68580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NCATS subsets only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48716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endpoints, ~900–2,500 compounds each. Different dataset sizes, scaffolds, or endpoints could change the picture.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971800"/>
            <a:ext cx="36576" cy="68580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97180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transfer protocols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26440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tested XGBoost continue-boosting, XGBoost feature-prior, D-MPNN encoder transfer,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CheMeleon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foundation finetune/freeze, and MIST frozen. There are other XGBoost transfer schemes potentially worth exploring. We did not test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fine-tuning protocols which tweak the embedding model itself for the new target; we likely could’ve eked more performance out of both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Chemeleon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MIST.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749040"/>
            <a:ext cx="36576" cy="68580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report drafted with AI assistance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404164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was reviewed, but I am not a biochemist — domain readers should treat the chemistry interpretation as a working hypothesis.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65760" y="4800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for Drug Discovery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006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4C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1B6B7D"/>
          </a:solidFill>
          <a:ln w="12700">
            <a:solidFill>
              <a:srgbClr val="1B6B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600" dirty="0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THINGS TO REMEMBER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22960" y="1005840"/>
            <a:ext cx="502920" cy="502920"/>
          </a:xfrm>
          <a:prstGeom prst="ellipse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1005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914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works — but the protocol decides whether it is safe.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463040" y="141732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Decision-boundary transfer is high-risk. Representation transfer is the only safe + useful flavor.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502920" cy="502920"/>
          </a:xfrm>
          <a:prstGeom prst="ellipse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96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63040" y="2148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Catastrophic failure looks like a baseline-grade model.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63040" y="26517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RLM-transfer dropped to 0.853 AUC-PR on PAMPA — the random baseline. Silent failures are the dangerous kind.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3474720"/>
            <a:ext cx="502920" cy="502920"/>
          </a:xfrm>
          <a:prstGeom prst="ellipse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2296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463040" y="3383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models change the data-efficiency math.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63040" y="388620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CheMeleon-frozen at 25% of the data matches XGBoost at 100%. The bar for "you need more compounds" just dropped. MIST model performs equivalently to </a:t>
            </a:r>
            <a:r>
              <a:rPr lang="en-US" sz="1200" i="1" dirty="0" err="1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r>
              <a:rPr lang="en-US" sz="1200" i="1" dirty="0">
                <a:solidFill>
                  <a:srgbClr val="D6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" y="4663440"/>
            <a:ext cx="457200" cy="36576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22960" y="473659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write-up &amp; code  •  README.md in the project repo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2031</Words>
  <Application>Microsoft Macintosh PowerPoint</Application>
  <PresentationFormat>On-screen Show (16:9)</PresentationFormat>
  <Paragraphs>303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Transfer Learning for Drug Discovery</dc:title>
  <dc:subject>PptxGenJS Presentation</dc:subject>
  <dc:creator>Raymond Gasper</dc:creator>
  <cp:lastModifiedBy>Raymond Gasper</cp:lastModifiedBy>
  <cp:revision>12</cp:revision>
  <dcterms:created xsi:type="dcterms:W3CDTF">2026-05-04T13:11:24Z</dcterms:created>
  <dcterms:modified xsi:type="dcterms:W3CDTF">2026-05-14T20:14:49Z</dcterms:modified>
</cp:coreProperties>
</file>