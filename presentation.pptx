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77" r:id="rId6"/>
    <p:sldId id="276" r:id="rId7"/>
    <p:sldId id="278" r:id="rId8"/>
    <p:sldId id="260" r:id="rId9"/>
    <p:sldId id="279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5" r:id="rId21"/>
    <p:sldId id="271" r:id="rId22"/>
    <p:sldId id="272" r:id="rId23"/>
    <p:sldId id="273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>
        <p:scale>
          <a:sx n="188" d="100"/>
          <a:sy n="188" d="100"/>
        </p:scale>
        <p:origin x="-176" y="-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9647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97416-1452-1719-6633-5D4315A84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27575-3887-4952-6794-A7B73F63FD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7264A-C58B-F6B4-D44A-96AF20CC3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2B8621-9806-A27C-4A16-F377091C1D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4117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128016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600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PRIMER &amp; TWO STORIES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7955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</a:t>
            </a:r>
            <a:endParaRPr lang="en-US" sz="4600" dirty="0"/>
          </a:p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Discovery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does it help, when does it hurt, and why does the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protocol matter more than the model?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297680"/>
            <a:ext cx="457200" cy="3657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437083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NCATS ADME endpoints  •  XGBoost · Chemprop · CheMeleon  •  5×5 chemical-space CV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QUESTION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ADME data is small. Transfer learning is the standard fix — but is it always safe?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310896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64008" cy="310896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 on the bench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ADME assay yields </a:t>
            </a: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hundred to a few thousand 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— far below what neural networks normally need.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is the workaround: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1.  pre-train on a large dataset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2.  adapt to the small target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well when source and target share biochemistry.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4023360" cy="310896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920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unspoken question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96596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the source dataset turns out to be unrelated to your target?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892040" y="31546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model gracefully ignore the irrelevant pre-training, or does it break?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92040" y="397764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can't pick our drug targets to make our models look good.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 •  MODEL FAMILY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on Morgan fingerprints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 rot="5400000">
            <a:off x="960120" y="2148840"/>
            <a:ext cx="640080" cy="640080"/>
          </a:xfrm>
          <a:prstGeom prst="hexagon">
            <a:avLst/>
          </a:prstGeom>
          <a:solidFill>
            <a:srgbClr val="FFFFFF"/>
          </a:solidFill>
          <a:ln w="254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15568" y="23042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572768" y="2423160"/>
            <a:ext cx="164592" cy="0"/>
          </a:xfrm>
          <a:prstGeom prst="line">
            <a:avLst/>
          </a:prstGeom>
          <a:noFill/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700784" y="2276856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971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828800" y="2468880"/>
            <a:ext cx="64008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606040" y="2176272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11196" y="2176272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816352" y="2176272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921508" y="2176272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026664" y="2176272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131820" y="2176272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606040" y="2281428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11196" y="2281428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816352" y="2281428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921508" y="2281428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026664" y="2281428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131820" y="2281428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606040" y="2386584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711196" y="2386584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816352" y="2386584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921508" y="2386584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026664" y="2386584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131820" y="2386584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606040" y="2491740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711196" y="2491740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816352" y="2491740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921508" y="2491740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026664" y="2491740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131820" y="2491740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46888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2,048-bit Morgan FP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468880" y="31821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substructures present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14800" y="2468880"/>
            <a:ext cx="45720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87832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87832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74116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74116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01548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01548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80060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66344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93776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61772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75488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8920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502920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335524" y="2253996"/>
            <a:ext cx="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335524" y="2253996"/>
            <a:ext cx="13716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198364" y="2418588"/>
            <a:ext cx="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198364" y="2418588"/>
            <a:ext cx="9144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472684" y="2418588"/>
            <a:ext cx="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5472684" y="2418588"/>
            <a:ext cx="9144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5257800" y="2176272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5120640" y="2340864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5394960" y="2340864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074920" y="2505456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212080" y="2505456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5349240" y="2505456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5486400" y="2505456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579272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579272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65556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65556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592988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592988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571500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557784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585216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553212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566928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58064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594360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4572000" y="2971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of trees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0" y="318211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each tree votes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6263640" y="2468880"/>
            <a:ext cx="50292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6858000" y="2267712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6858000" y="2286000"/>
            <a:ext cx="14630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p(stable) = 0.81</a:t>
            </a:r>
            <a:endParaRPr lang="en-US" sz="1400" dirty="0"/>
          </a:p>
        </p:txBody>
      </p:sp>
      <p:sp>
        <p:nvSpPr>
          <p:cNvPr id="81" name="Text 79"/>
          <p:cNvSpPr/>
          <p:nvPr/>
        </p:nvSpPr>
        <p:spPr>
          <a:xfrm>
            <a:off x="6858000" y="2971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6858000" y="318211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Σ of all trees' votes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457200" y="3840480"/>
            <a:ext cx="64008" cy="77724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640080" y="390448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standard — fast, no GPU, mature SHAP tooling.</a:t>
            </a:r>
            <a:endParaRPr lang="en-US" sz="1300" dirty="0"/>
          </a:p>
        </p:txBody>
      </p:sp>
      <p:sp>
        <p:nvSpPr>
          <p:cNvPr id="86" name="Text 84"/>
          <p:cNvSpPr/>
          <p:nvPr/>
        </p:nvSpPr>
        <p:spPr>
          <a:xfrm>
            <a:off x="640080" y="42062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lives in the trees. Once a tree is built, it cannot be modified or removed — every tree votes on every prediction, forever.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 •  MODEL FAMILY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D-MPNN graph neural networks  (Chemprop, CheMeleon)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234440" y="2148840"/>
            <a:ext cx="0" cy="320040"/>
          </a:xfrm>
          <a:prstGeom prst="line">
            <a:avLst/>
          </a:prstGeom>
          <a:noFill/>
          <a:ln w="254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234440" y="2468880"/>
            <a:ext cx="0" cy="256032"/>
          </a:xfrm>
          <a:prstGeom prst="line">
            <a:avLst/>
          </a:prstGeom>
          <a:noFill/>
          <a:ln w="254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234440" y="2468880"/>
            <a:ext cx="292608" cy="256032"/>
          </a:xfrm>
          <a:prstGeom prst="line">
            <a:avLst/>
          </a:prstGeom>
          <a:noFill/>
          <a:ln w="254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52144" y="206654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52144" y="238658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59536" y="2642616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444752" y="2642616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926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 graph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136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atoms exchange messages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28800" y="2468880"/>
            <a:ext cx="45720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377440" y="1965960"/>
            <a:ext cx="3108960" cy="1143000"/>
          </a:xfrm>
          <a:prstGeom prst="rect">
            <a:avLst/>
          </a:prstGeom>
          <a:solidFill>
            <a:srgbClr val="FCFEFE"/>
          </a:solidFill>
          <a:ln w="12700">
            <a:solidFill>
              <a:srgbClr val="1B6B7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377440" y="16916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06040" y="2130552"/>
            <a:ext cx="114300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679192" y="2203704"/>
            <a:ext cx="996696" cy="185928"/>
          </a:xfrm>
          <a:prstGeom prst="rect">
            <a:avLst/>
          </a:prstGeom>
          <a:solidFill>
            <a:srgbClr val="D6E8EC"/>
          </a:solidFill>
          <a:ln w="63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679192" y="2426208"/>
            <a:ext cx="996696" cy="185928"/>
          </a:xfrm>
          <a:prstGeom prst="rect">
            <a:avLst/>
          </a:prstGeom>
          <a:solidFill>
            <a:srgbClr val="FFFFFF"/>
          </a:solidFill>
          <a:ln w="63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679192" y="2648712"/>
            <a:ext cx="996696" cy="185928"/>
          </a:xfrm>
          <a:prstGeom prst="rect">
            <a:avLst/>
          </a:prstGeom>
          <a:solidFill>
            <a:srgbClr val="D6E8EC"/>
          </a:solidFill>
          <a:ln w="63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468880" y="294436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message passing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840480" y="2514600"/>
            <a:ext cx="365760" cy="0"/>
          </a:xfrm>
          <a:prstGeom prst="line">
            <a:avLst/>
          </a:prstGeom>
          <a:noFill/>
          <a:ln w="1905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25196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38912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2628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0060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93776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07492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21208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206240" y="29443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pooled vector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32120" y="2468880"/>
            <a:ext cx="45720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126480" y="2231136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126480" y="2432304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126480" y="2633472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55080" y="2331720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355080" y="2532888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583680" y="2432304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199632" y="2267712"/>
            <a:ext cx="155448" cy="100584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199632" y="2267712"/>
            <a:ext cx="155448" cy="301752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199632" y="2468880"/>
            <a:ext cx="155448" cy="0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199632" y="2468880"/>
            <a:ext cx="155448" cy="100584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199632" y="2670048"/>
            <a:ext cx="155448" cy="0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199632" y="2670048"/>
            <a:ext cx="155448" cy="0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428232" y="2368296"/>
            <a:ext cx="155448" cy="100584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428232" y="2569464"/>
            <a:ext cx="155448" cy="0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035040" y="29260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 head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035040" y="31363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B45309"/>
                </a:solidFill>
              </a:rPr>
              <a:t>replaceable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903720" y="2468880"/>
            <a:ext cx="32004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269480" y="2258568"/>
            <a:ext cx="1417320" cy="411480"/>
          </a:xfrm>
          <a:prstGeom prst="roundRect">
            <a:avLst>
              <a:gd name="adj" fmla="val 17778"/>
            </a:avLst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269480" y="2276856"/>
            <a:ext cx="14173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p(stable) = 0.81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269480" y="29260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457200" y="3840480"/>
            <a:ext cx="64008" cy="77724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40080" y="390448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separable parts: an encoder that learns chemistry, a head that makes the call.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640080" y="42062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encoder builds a vocabulary of molecular features (functional groups, ring systems) — the head maps that vocabulary to whatever target you care about.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9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6DBB62D-8DD5-43F8-760A-1584F6E7C648}"/>
              </a:ext>
            </a:extLst>
          </p:cNvPr>
          <p:cNvSpPr txBox="1"/>
          <p:nvPr/>
        </p:nvSpPr>
        <p:spPr>
          <a:xfrm>
            <a:off x="6799989" y="122884"/>
            <a:ext cx="221209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github.com</a:t>
            </a:r>
            <a:r>
              <a:rPr lang="en-US" sz="800" dirty="0"/>
              <a:t>/</a:t>
            </a:r>
            <a:r>
              <a:rPr lang="en-US" sz="800" dirty="0" err="1"/>
              <a:t>JacksonBurns</a:t>
            </a:r>
            <a:r>
              <a:rPr lang="en-US" sz="800" dirty="0"/>
              <a:t>/</a:t>
            </a:r>
            <a:r>
              <a:rPr lang="en-US" sz="800" dirty="0" err="1"/>
              <a:t>chemeleon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27600-8519-8894-6468-D8ABD0283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DC970E7F-E382-8499-00B8-4D11F1C7C7A8}"/>
              </a:ext>
            </a:extLst>
          </p:cNvPr>
          <p:cNvSpPr/>
          <p:nvPr/>
        </p:nvSpPr>
        <p:spPr>
          <a:xfrm>
            <a:off x="457200" y="1214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cs typeface="Calibri" pitchFamily="34" charset="-120"/>
              </a:rPr>
              <a:t>Allegory to image recognition models</a:t>
            </a:r>
            <a:endParaRPr lang="en-US" sz="2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C29A58-80BA-0EAE-CD54-B466FC388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619" y="892519"/>
            <a:ext cx="5989321" cy="3272573"/>
          </a:xfrm>
          <a:prstGeom prst="rect">
            <a:avLst/>
          </a:prstGeom>
        </p:spPr>
      </p:pic>
      <p:sp>
        <p:nvSpPr>
          <p:cNvPr id="8" name="Shape 81">
            <a:extLst>
              <a:ext uri="{FF2B5EF4-FFF2-40B4-BE49-F238E27FC236}">
                <a16:creationId xmlns:a16="http://schemas.microsoft.com/office/drawing/2014/main" id="{1AFDC6CD-A351-2FBA-4D72-8969044DBD74}"/>
              </a:ext>
            </a:extLst>
          </p:cNvPr>
          <p:cNvSpPr/>
          <p:nvPr/>
        </p:nvSpPr>
        <p:spPr>
          <a:xfrm>
            <a:off x="411480" y="4197096"/>
            <a:ext cx="8229600" cy="77724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r"/>
            <a:endParaRPr lang="en-US" dirty="0"/>
          </a:p>
        </p:txBody>
      </p:sp>
      <p:sp>
        <p:nvSpPr>
          <p:cNvPr id="9" name="Shape 82">
            <a:extLst>
              <a:ext uri="{FF2B5EF4-FFF2-40B4-BE49-F238E27FC236}">
                <a16:creationId xmlns:a16="http://schemas.microsoft.com/office/drawing/2014/main" id="{2B3D899E-82B2-4CEA-CBF2-6E26A7867AC2}"/>
              </a:ext>
            </a:extLst>
          </p:cNvPr>
          <p:cNvSpPr/>
          <p:nvPr/>
        </p:nvSpPr>
        <p:spPr>
          <a:xfrm>
            <a:off x="411480" y="4197096"/>
            <a:ext cx="64008" cy="77724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3">
            <a:extLst>
              <a:ext uri="{FF2B5EF4-FFF2-40B4-BE49-F238E27FC236}">
                <a16:creationId xmlns:a16="http://schemas.microsoft.com/office/drawing/2014/main" id="{B02799EF-E2A7-38E0-1266-AC64836320F7}"/>
              </a:ext>
            </a:extLst>
          </p:cNvPr>
          <p:cNvSpPr/>
          <p:nvPr/>
        </p:nvSpPr>
        <p:spPr>
          <a:xfrm>
            <a:off x="594360" y="4261104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embedding layer learns to identify simple, but not generally useful, features</a:t>
            </a:r>
            <a:endParaRPr lang="en-US" sz="1300" dirty="0"/>
          </a:p>
        </p:txBody>
      </p:sp>
      <p:sp>
        <p:nvSpPr>
          <p:cNvPr id="11" name="Text 84">
            <a:extLst>
              <a:ext uri="{FF2B5EF4-FFF2-40B4-BE49-F238E27FC236}">
                <a16:creationId xmlns:a16="http://schemas.microsoft.com/office/drawing/2014/main" id="{9245D30C-909F-D330-A65C-6A88D6EC6F10}"/>
              </a:ext>
            </a:extLst>
          </p:cNvPr>
          <p:cNvSpPr/>
          <p:nvPr/>
        </p:nvSpPr>
        <p:spPr>
          <a:xfrm>
            <a:off x="594360" y="4562856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/>
              <a:t>However these on their own aren’t able to be used to do much! Have to be combined…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80FC86-D399-E6B4-B9C4-2A41FBED07AA}"/>
              </a:ext>
            </a:extLst>
          </p:cNvPr>
          <p:cNvSpPr txBox="1"/>
          <p:nvPr/>
        </p:nvSpPr>
        <p:spPr>
          <a:xfrm>
            <a:off x="6715593" y="113775"/>
            <a:ext cx="242840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www.youtube.com</a:t>
            </a:r>
            <a:r>
              <a:rPr lang="en-US" sz="800" dirty="0"/>
              <a:t>/</a:t>
            </a:r>
            <a:r>
              <a:rPr lang="en-US" sz="800" dirty="0" err="1"/>
              <a:t>watch?v</a:t>
            </a:r>
            <a:r>
              <a:rPr lang="en-US" sz="800" dirty="0"/>
              <a:t>=UZDiGooFs54</a:t>
            </a:r>
          </a:p>
        </p:txBody>
      </p:sp>
    </p:spTree>
    <p:extLst>
      <p:ext uri="{BB962C8B-B14F-4D97-AF65-F5344CB8AC3E}">
        <p14:creationId xmlns:p14="http://schemas.microsoft.com/office/powerpoint/2010/main" val="39321387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80508F-62DE-F331-C986-6385ED331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155" y="819985"/>
            <a:ext cx="6564652" cy="3251120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FB8094E8-02B1-6291-F3F8-A5EA4967E04B}"/>
              </a:ext>
            </a:extLst>
          </p:cNvPr>
          <p:cNvSpPr/>
          <p:nvPr/>
        </p:nvSpPr>
        <p:spPr>
          <a:xfrm>
            <a:off x="457200" y="1214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cs typeface="Calibri" pitchFamily="34" charset="-120"/>
              </a:rPr>
              <a:t>Allegory to image recognition models</a:t>
            </a:r>
            <a:endParaRPr lang="en-US" sz="2600" dirty="0"/>
          </a:p>
        </p:txBody>
      </p:sp>
      <p:sp>
        <p:nvSpPr>
          <p:cNvPr id="8" name="Shape 81">
            <a:extLst>
              <a:ext uri="{FF2B5EF4-FFF2-40B4-BE49-F238E27FC236}">
                <a16:creationId xmlns:a16="http://schemas.microsoft.com/office/drawing/2014/main" id="{24A79110-9F74-D5D5-AEAD-05F647152F8D}"/>
              </a:ext>
            </a:extLst>
          </p:cNvPr>
          <p:cNvSpPr/>
          <p:nvPr/>
        </p:nvSpPr>
        <p:spPr>
          <a:xfrm>
            <a:off x="457200" y="4125293"/>
            <a:ext cx="8229600" cy="77724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Shape 82">
            <a:extLst>
              <a:ext uri="{FF2B5EF4-FFF2-40B4-BE49-F238E27FC236}">
                <a16:creationId xmlns:a16="http://schemas.microsoft.com/office/drawing/2014/main" id="{74C8DFFB-A185-2771-F6C9-3A53AC86D765}"/>
              </a:ext>
            </a:extLst>
          </p:cNvPr>
          <p:cNvSpPr/>
          <p:nvPr/>
        </p:nvSpPr>
        <p:spPr>
          <a:xfrm>
            <a:off x="457200" y="4125293"/>
            <a:ext cx="64008" cy="77724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3">
            <a:extLst>
              <a:ext uri="{FF2B5EF4-FFF2-40B4-BE49-F238E27FC236}">
                <a16:creationId xmlns:a16="http://schemas.microsoft.com/office/drawing/2014/main" id="{1AB991EA-1730-E8CF-27E1-9050BF93CCCB}"/>
              </a:ext>
            </a:extLst>
          </p:cNvPr>
          <p:cNvSpPr/>
          <p:nvPr/>
        </p:nvSpPr>
        <p:spPr>
          <a:xfrm>
            <a:off x="640080" y="4189301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embedding layers learn highly informative abstract ideas</a:t>
            </a:r>
            <a:endParaRPr lang="en-US" sz="1300" dirty="0"/>
          </a:p>
        </p:txBody>
      </p:sp>
      <p:sp>
        <p:nvSpPr>
          <p:cNvPr id="11" name="Text 84">
            <a:extLst>
              <a:ext uri="{FF2B5EF4-FFF2-40B4-BE49-F238E27FC236}">
                <a16:creationId xmlns:a16="http://schemas.microsoft.com/office/drawing/2014/main" id="{6D2957C1-5899-5E3E-1B26-7119A4E93C10}"/>
              </a:ext>
            </a:extLst>
          </p:cNvPr>
          <p:cNvSpPr/>
          <p:nvPr/>
        </p:nvSpPr>
        <p:spPr>
          <a:xfrm>
            <a:off x="640080" y="4491053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/>
              <a:t>These may be uniquely suited to original trained target! But often are more generalizable in practice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02960A-C7A6-6A36-0657-86AD74E5626F}"/>
              </a:ext>
            </a:extLst>
          </p:cNvPr>
          <p:cNvSpPr txBox="1"/>
          <p:nvPr/>
        </p:nvSpPr>
        <p:spPr>
          <a:xfrm>
            <a:off x="6693108" y="112276"/>
            <a:ext cx="245089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www.youtube.com</a:t>
            </a:r>
            <a:r>
              <a:rPr lang="en-US" sz="800" dirty="0"/>
              <a:t>/</a:t>
            </a:r>
            <a:r>
              <a:rPr lang="en-US" sz="800" dirty="0" err="1"/>
              <a:t>watch?v</a:t>
            </a:r>
            <a:r>
              <a:rPr lang="en-US" sz="800" dirty="0"/>
              <a:t>=UZDiGooFs54</a:t>
            </a:r>
          </a:p>
        </p:txBody>
      </p:sp>
    </p:spTree>
    <p:extLst>
      <p:ext uri="{BB962C8B-B14F-4D97-AF65-F5344CB8AC3E}">
        <p14:creationId xmlns:p14="http://schemas.microsoft.com/office/powerpoint/2010/main" val="435154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8742D-E4B7-AC2E-6187-A3C799BE6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E27B5A5-6B38-0064-90EB-3EB81BE65771}"/>
              </a:ext>
            </a:extLst>
          </p:cNvPr>
          <p:cNvSpPr/>
          <p:nvPr/>
        </p:nvSpPr>
        <p:spPr>
          <a:xfrm>
            <a:off x="457200" y="1214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cs typeface="Calibri" pitchFamily="34" charset="-120"/>
              </a:rPr>
              <a:t>Allegory to image recognition models</a:t>
            </a:r>
            <a:endParaRPr lang="en-US" sz="2600" dirty="0"/>
          </a:p>
        </p:txBody>
      </p:sp>
      <p:sp>
        <p:nvSpPr>
          <p:cNvPr id="8" name="Shape 81">
            <a:extLst>
              <a:ext uri="{FF2B5EF4-FFF2-40B4-BE49-F238E27FC236}">
                <a16:creationId xmlns:a16="http://schemas.microsoft.com/office/drawing/2014/main" id="{18D82CD4-7BB0-61C2-C9FB-8E1EC62D48AA}"/>
              </a:ext>
            </a:extLst>
          </p:cNvPr>
          <p:cNvSpPr/>
          <p:nvPr/>
        </p:nvSpPr>
        <p:spPr>
          <a:xfrm>
            <a:off x="457200" y="4125293"/>
            <a:ext cx="8229600" cy="77724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Shape 82">
            <a:extLst>
              <a:ext uri="{FF2B5EF4-FFF2-40B4-BE49-F238E27FC236}">
                <a16:creationId xmlns:a16="http://schemas.microsoft.com/office/drawing/2014/main" id="{689430A8-C06B-3BBE-677C-E4F700517EAF}"/>
              </a:ext>
            </a:extLst>
          </p:cNvPr>
          <p:cNvSpPr/>
          <p:nvPr/>
        </p:nvSpPr>
        <p:spPr>
          <a:xfrm>
            <a:off x="457200" y="4125293"/>
            <a:ext cx="64008" cy="77724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3">
            <a:extLst>
              <a:ext uri="{FF2B5EF4-FFF2-40B4-BE49-F238E27FC236}">
                <a16:creationId xmlns:a16="http://schemas.microsoft.com/office/drawing/2014/main" id="{C872CE09-DD34-6177-83A0-2E25CCF12F65}"/>
              </a:ext>
            </a:extLst>
          </p:cNvPr>
          <p:cNvSpPr/>
          <p:nvPr/>
        </p:nvSpPr>
        <p:spPr>
          <a:xfrm>
            <a:off x="640080" y="4189301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Layers (FFN) learn mapping of those informative features to your target</a:t>
            </a:r>
            <a:endParaRPr lang="en-US" sz="1300" dirty="0"/>
          </a:p>
        </p:txBody>
      </p:sp>
      <p:sp>
        <p:nvSpPr>
          <p:cNvPr id="11" name="Text 84">
            <a:extLst>
              <a:ext uri="{FF2B5EF4-FFF2-40B4-BE49-F238E27FC236}">
                <a16:creationId xmlns:a16="http://schemas.microsoft.com/office/drawing/2014/main" id="{099E2C9D-F50C-67E5-198F-5E95BFBA2EFD}"/>
              </a:ext>
            </a:extLst>
          </p:cNvPr>
          <p:cNvSpPr/>
          <p:nvPr/>
        </p:nvSpPr>
        <p:spPr>
          <a:xfrm>
            <a:off x="640080" y="4491053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/>
              <a:t>These are almost guaranteed to be only useful for your specific task!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D50B6C-2DA2-A365-8345-ABC9D7599153}"/>
              </a:ext>
            </a:extLst>
          </p:cNvPr>
          <p:cNvSpPr txBox="1"/>
          <p:nvPr/>
        </p:nvSpPr>
        <p:spPr>
          <a:xfrm>
            <a:off x="6693108" y="112276"/>
            <a:ext cx="245089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www.youtube.com</a:t>
            </a:r>
            <a:r>
              <a:rPr lang="en-US" sz="800" dirty="0"/>
              <a:t>/</a:t>
            </a:r>
            <a:r>
              <a:rPr lang="en-US" sz="800" dirty="0" err="1"/>
              <a:t>watch?v</a:t>
            </a:r>
            <a:r>
              <a:rPr lang="en-US" sz="800" dirty="0"/>
              <a:t>=UZDiGooFs54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842AB2-DBEF-8B96-E790-7DAC8C215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987" y="785914"/>
            <a:ext cx="6063521" cy="330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9650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DISTINCTION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carried over when you transfer?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32918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417320"/>
            <a:ext cx="8092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 •  decision-boundary transfer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(RLM)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0924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0924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7208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7208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4640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4640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9436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6868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8580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2296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6012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312164" y="2235708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312164" y="2235708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75004" y="2400300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75004" y="2400300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449324" y="2400300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449324" y="2400300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234440" y="215798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097280" y="2322576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371600" y="2322576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05156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18872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32588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46304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81508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81508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67792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67792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195224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195224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173736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60020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87452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55448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16916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182880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196596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57200" y="2606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source trees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194560" y="2331720"/>
            <a:ext cx="8229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103120" y="205740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continue boosting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200400" y="1828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(HLM / PAMPA)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50672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350672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36956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336956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364388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364388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342900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329184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56616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324612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338328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35204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365760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4009644" y="2235708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009644" y="2235708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3872484" y="2400300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3872484" y="2400300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4146804" y="2400300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4146804" y="2400300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3931920" y="215798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3794760" y="2322576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4069080" y="2322576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374904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388620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402336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416052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451256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451256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437540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437540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464972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464972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443484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429768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457200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425196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438912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452628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46634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5061204" y="2235708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5061204" y="2235708"/>
            <a:ext cx="13716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4924044" y="2400300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4924044" y="2400300"/>
            <a:ext cx="9144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5198364" y="2400300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5198364" y="2400300"/>
            <a:ext cx="9144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4983480" y="2157984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4846320" y="2322576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5120640" y="2322576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4800600" y="2487168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4937760" y="2487168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5074920" y="2487168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5212080" y="2487168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5564124" y="2180844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5564124" y="2180844"/>
            <a:ext cx="13716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5426964" y="2345436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5426964" y="2345436"/>
            <a:ext cx="9144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5701284" y="2345436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5701284" y="2345436"/>
            <a:ext cx="9144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5486400" y="2103120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5349240" y="2267712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5623560" y="2267712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5303520" y="2432304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5440680" y="2432304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5577840" y="2432304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5715000" y="2432304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3154680" y="260604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source trees stay  +  new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6263640" y="1801368"/>
            <a:ext cx="2423160" cy="1060704"/>
          </a:xfrm>
          <a:prstGeom prst="rect">
            <a:avLst/>
          </a:prstGeom>
          <a:solidFill>
            <a:srgbClr val="FEE2E2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6355080" y="18470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Inherited:</a:t>
            </a:r>
            <a:endParaRPr lang="en-US" sz="900" dirty="0"/>
          </a:p>
        </p:txBody>
      </p:sp>
      <p:sp>
        <p:nvSpPr>
          <p:cNvPr id="118" name="Text 116"/>
          <p:cNvSpPr/>
          <p:nvPr/>
        </p:nvSpPr>
        <p:spPr>
          <a:xfrm>
            <a:off x="6355080" y="20299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task-specific decisions</a:t>
            </a:r>
            <a:endParaRPr lang="en-US" sz="1300" dirty="0"/>
          </a:p>
        </p:txBody>
      </p:sp>
      <p:sp>
        <p:nvSpPr>
          <p:cNvPr id="119" name="Text 117"/>
          <p:cNvSpPr/>
          <p:nvPr/>
        </p:nvSpPr>
        <p:spPr>
          <a:xfrm>
            <a:off x="6355080" y="23317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"substructure X ⇒ unstable" — and old trees can't be unlearned.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457200" y="3154680"/>
            <a:ext cx="8229600" cy="32918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594360" y="3154680"/>
            <a:ext cx="8092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D-MPNN  •  representation transfer</a:t>
            </a:r>
            <a:endParaRPr lang="en-US" sz="1300" dirty="0"/>
          </a:p>
        </p:txBody>
      </p:sp>
      <p:sp>
        <p:nvSpPr>
          <p:cNvPr id="122" name="Text 120"/>
          <p:cNvSpPr/>
          <p:nvPr/>
        </p:nvSpPr>
        <p:spPr>
          <a:xfrm>
            <a:off x="457200" y="3566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(RLM)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502920" y="3822192"/>
            <a:ext cx="1280160" cy="50292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Text 122"/>
          <p:cNvSpPr/>
          <p:nvPr/>
        </p:nvSpPr>
        <p:spPr>
          <a:xfrm>
            <a:off x="502920" y="38404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100" dirty="0"/>
          </a:p>
        </p:txBody>
      </p:sp>
      <p:sp>
        <p:nvSpPr>
          <p:cNvPr id="125" name="Shape 123"/>
          <p:cNvSpPr/>
          <p:nvPr/>
        </p:nvSpPr>
        <p:spPr>
          <a:xfrm>
            <a:off x="1874520" y="3849624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124"/>
          <p:cNvSpPr/>
          <p:nvPr/>
        </p:nvSpPr>
        <p:spPr>
          <a:xfrm>
            <a:off x="1874520" y="3858768"/>
            <a:ext cx="868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1920240" y="3877056"/>
            <a:ext cx="777240" cy="41148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1920240" y="4288536"/>
            <a:ext cx="7772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2926080" y="4078224"/>
            <a:ext cx="5943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 128"/>
          <p:cNvSpPr/>
          <p:nvPr/>
        </p:nvSpPr>
        <p:spPr>
          <a:xfrm>
            <a:off x="2788920" y="380390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swap head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3657600" y="3566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(HLM / PAMPA)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3703320" y="3822192"/>
            <a:ext cx="1280160" cy="50292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Text 131"/>
          <p:cNvSpPr/>
          <p:nvPr/>
        </p:nvSpPr>
        <p:spPr>
          <a:xfrm>
            <a:off x="3703320" y="38404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100" dirty="0"/>
          </a:p>
        </p:txBody>
      </p:sp>
      <p:sp>
        <p:nvSpPr>
          <p:cNvPr id="134" name="Text 132"/>
          <p:cNvSpPr/>
          <p:nvPr/>
        </p:nvSpPr>
        <p:spPr>
          <a:xfrm>
            <a:off x="3703320" y="433425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F4C5C"/>
                </a:solidFill>
              </a:rPr>
              <a:t>(kept)</a:t>
            </a:r>
            <a:endParaRPr lang="en-US" sz="900" dirty="0"/>
          </a:p>
        </p:txBody>
      </p:sp>
      <p:sp>
        <p:nvSpPr>
          <p:cNvPr id="135" name="Shape 133"/>
          <p:cNvSpPr/>
          <p:nvPr/>
        </p:nvSpPr>
        <p:spPr>
          <a:xfrm>
            <a:off x="5074920" y="3849624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Text 134"/>
          <p:cNvSpPr/>
          <p:nvPr/>
        </p:nvSpPr>
        <p:spPr>
          <a:xfrm>
            <a:off x="5074920" y="38587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head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5074920" y="43342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47857"/>
                </a:solidFill>
              </a:rPr>
              <a:t>(fresh)</a:t>
            </a:r>
            <a:endParaRPr lang="en-US" sz="900" dirty="0"/>
          </a:p>
        </p:txBody>
      </p:sp>
      <p:sp>
        <p:nvSpPr>
          <p:cNvPr id="138" name="Shape 136"/>
          <p:cNvSpPr/>
          <p:nvPr/>
        </p:nvSpPr>
        <p:spPr>
          <a:xfrm>
            <a:off x="6263640" y="3538728"/>
            <a:ext cx="2423160" cy="1060704"/>
          </a:xfrm>
          <a:prstGeom prst="rect">
            <a:avLst/>
          </a:prstGeom>
          <a:solidFill>
            <a:srgbClr val="DCFCE7"/>
          </a:solidFill>
          <a:ln w="9525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Text 137"/>
          <p:cNvSpPr/>
          <p:nvPr/>
        </p:nvSpPr>
        <p:spPr>
          <a:xfrm>
            <a:off x="6355080" y="35844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Inherited:</a:t>
            </a:r>
            <a:endParaRPr lang="en-US" sz="900" dirty="0"/>
          </a:p>
        </p:txBody>
      </p:sp>
      <p:sp>
        <p:nvSpPr>
          <p:cNvPr id="140" name="Text 138"/>
          <p:cNvSpPr/>
          <p:nvPr/>
        </p:nvSpPr>
        <p:spPr>
          <a:xfrm>
            <a:off x="6355080" y="3767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task-general features</a:t>
            </a:r>
            <a:endParaRPr lang="en-US" sz="1300" dirty="0"/>
          </a:p>
        </p:txBody>
      </p:sp>
      <p:sp>
        <p:nvSpPr>
          <p:cNvPr id="141" name="Text 139"/>
          <p:cNvSpPr/>
          <p:nvPr/>
        </p:nvSpPr>
        <p:spPr>
          <a:xfrm>
            <a:off x="6355080" y="4069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groups, ring systems — chemistry, not decisions. New head = clean slate.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Text 141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44" name="Text 142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40D2F1-5C29-B620-5897-3078233201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663" y="196596"/>
            <a:ext cx="4578739" cy="4750308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F95CCB50-FA0E-8B5A-32D0-54E471890E28}"/>
              </a:ext>
            </a:extLst>
          </p:cNvPr>
          <p:cNvSpPr/>
          <p:nvPr/>
        </p:nvSpPr>
        <p:spPr>
          <a:xfrm>
            <a:off x="5669280" y="1100840"/>
            <a:ext cx="2798064" cy="2941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cs typeface="Calibri" pitchFamily="34" charset="-120"/>
              </a:rPr>
              <a:t>Same story, just copying a good figure from the </a:t>
            </a:r>
            <a:r>
              <a:rPr lang="en-US" sz="2600" b="1" dirty="0" err="1">
                <a:solidFill>
                  <a:srgbClr val="1A2332"/>
                </a:solidFill>
                <a:latin typeface="Calibri" pitchFamily="34" charset="0"/>
                <a:cs typeface="Calibri" pitchFamily="34" charset="-120"/>
              </a:rPr>
              <a:t>Chemeleon</a:t>
            </a: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cs typeface="Calibri" pitchFamily="34" charset="-120"/>
              </a:rPr>
              <a:t> paper</a:t>
            </a:r>
            <a:endParaRPr lang="en-US" sz="2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76D758-2D80-36FE-82C2-6C64C69E866F}"/>
              </a:ext>
            </a:extLst>
          </p:cNvPr>
          <p:cNvSpPr txBox="1"/>
          <p:nvPr/>
        </p:nvSpPr>
        <p:spPr>
          <a:xfrm>
            <a:off x="7068312" y="196596"/>
            <a:ext cx="16339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arxiv.org</a:t>
            </a:r>
            <a:r>
              <a:rPr lang="en-US" sz="800" dirty="0"/>
              <a:t>/pdf/2506.15792</a:t>
            </a:r>
          </a:p>
        </p:txBody>
      </p:sp>
    </p:spTree>
    <p:extLst>
      <p:ext uri="{BB962C8B-B14F-4D97-AF65-F5344CB8AC3E}">
        <p14:creationId xmlns:p14="http://schemas.microsoft.com/office/powerpoint/2010/main" val="28195091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NCATS ADME endpoints — one source, two targets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560320" cy="3108960"/>
          </a:xfrm>
          <a:prstGeom prst="rect">
            <a:avLst/>
          </a:prstGeom>
          <a:solidFill>
            <a:srgbClr val="D6E8EC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RLM Stability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 liver microsomal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 stability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8803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2,529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18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/ 70%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/ unstable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4069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pre-train every architecture.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08960" y="2971800"/>
            <a:ext cx="36576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0" y="1417320"/>
            <a:ext cx="25603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794760" y="1508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1  •  RELATED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94760" y="1783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HLM Stability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79476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liver microsomal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 stability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794760" y="28803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18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/ 40%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/ unstable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94760" y="4023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biochemistry, different species —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expect transfer to help.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09360" y="1417320"/>
            <a:ext cx="237744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4652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2  •  UNRELATED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46520" y="1783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PAMPA pH 7.4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446520" y="22402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membrane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permeability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46520" y="2880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2,033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18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/ 14%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permeable / not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46520" y="4023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Lipophilicity, not metabolism —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expect transfer to be useless or harmful.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08960" y="2971800"/>
            <a:ext cx="3200400" cy="0"/>
          </a:xfrm>
          <a:prstGeom prst="line">
            <a:avLst/>
          </a:prstGeom>
          <a:noFill/>
          <a:ln w="12700">
            <a:solidFill>
              <a:srgbClr val="1B6B7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IN ONE GLANCE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keep the comparisons honest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57600" cy="320040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657600" cy="36576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× 5 cross-validation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train/test splits per endpoint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17320" y="2423160"/>
            <a:ext cx="347472" cy="292608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417320" y="2752344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417320" y="3081528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417320" y="3410712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417320" y="3739896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801368" y="2423160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801368" y="2752344"/>
            <a:ext cx="347472" cy="292608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801368" y="3081528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801368" y="3410712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801368" y="3739896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185416" y="2423160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185416" y="2752344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185416" y="3081528"/>
            <a:ext cx="347472" cy="292608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185416" y="3410712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185416" y="3739896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569464" y="2423160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569464" y="2752344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569464" y="3081528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569464" y="3410712"/>
            <a:ext cx="347472" cy="292608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569464" y="3739896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953512" y="2423160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953512" y="2752344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953512" y="3081528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953512" y="3410712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2953512" y="3739896"/>
            <a:ext cx="347472" cy="292608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417320" y="213055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5 replicates →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" y="3108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4748B"/>
                </a:solidFill>
              </a:rPr>
              <a:t>5 folds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417320" y="4233672"/>
            <a:ext cx="164592" cy="146304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618488" y="42153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fold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331720" y="4233672"/>
            <a:ext cx="164592" cy="146304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532888" y="42153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fold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" y="4434840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splits across all model variants — paired comparisons.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297680" y="1417320"/>
            <a:ext cx="4389120" cy="978408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297680" y="1417320"/>
            <a:ext cx="54864" cy="978408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462272" y="15087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Chemical-space splits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462272" y="180136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Morgan FPs → PaCMAP → KMeans clusters as fold groups. Test compounds occupy distinct regions of chemical space — no structural-similarity leakage.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297680" y="2514600"/>
            <a:ext cx="4389120" cy="978408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297680" y="2514600"/>
            <a:ext cx="54864" cy="978408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462272" y="260604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Tukey HSD, FWER = 0.05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462272" y="289864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Family-wise error control. Reported significant differences have ≤ 5% false-positive risk even after correcting for many pairwise comparisons.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297680" y="3611880"/>
            <a:ext cx="4389120" cy="978408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297680" y="3611880"/>
            <a:ext cx="54864" cy="978408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462272" y="37033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AUC-PR as primary metric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462272" y="399592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PAMPA is 86% positive. AUC-PR is sensitive to minority-class errors; the random-classifier baseline equals the positive-class prevalence.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9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DDF1AE8-2381-0011-9494-45828ED9F67C}"/>
              </a:ext>
            </a:extLst>
          </p:cNvPr>
          <p:cNvSpPr txBox="1"/>
          <p:nvPr/>
        </p:nvSpPr>
        <p:spPr>
          <a:xfrm>
            <a:off x="4643204" y="166598"/>
            <a:ext cx="457949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practicalcheminformatics.blogspot.com</a:t>
            </a:r>
            <a:r>
              <a:rPr lang="en-US" sz="800" dirty="0"/>
              <a:t>/2025/03/even-more-thoughts-on-ml-</a:t>
            </a:r>
            <a:r>
              <a:rPr lang="en-US" sz="800" dirty="0" err="1"/>
              <a:t>method.html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1  •  RELATED TRANSFER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RLM → HLM: same biochemistry, different species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expect transfer to work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endpoints measure how quickly liver microsome enzymes (mostly CYP450s) break down a compound.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CYP isoform profiles differ between rat and human, but the rules of metabolic vulnerability — labile amines, benzylic positions, electron-rich aromatics — are largely shared.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medicinal chemist would expect knowledge of "what makes a molecule labile" to carry over.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303520" y="1417320"/>
            <a:ext cx="3383280" cy="310896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40680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OVERLAP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40680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RLM ∩ HLM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40680" y="23317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molecules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(5.6% of HLM)</a:t>
            </a:r>
            <a:endParaRPr lang="en-US" sz="2600" dirty="0"/>
          </a:p>
          <a:p>
            <a:pPr marL="0" indent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scaffolds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(12.9% of HLM)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440680" y="3657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molecule overlap → benefit can't be simple memorization. Some scaffold familiarity — but most HLM scaffolds (87%) are unseen during RLM training.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1  • 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from RLM helps almost every architecture on HLM</a:t>
            </a:r>
            <a:endParaRPr lang="en-US" sz="2600" dirty="0"/>
          </a:p>
        </p:txBody>
      </p:sp>
      <p:pic>
        <p:nvPicPr>
          <p:cNvPr id="4" name="Image 0" descr="/sessions/nifty-eager-edison/mnt/xfer-learning/docs/figures/boxplots-hlm-auc-p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1107" y="1371600"/>
            <a:ext cx="4991725" cy="2798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34993" y="42519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AUC-PR across 25 CV folds. Dotted line = random baseline (0.602).  Best: Chemprop RLM-transfer at 0.831.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205773" y="1381448"/>
            <a:ext cx="1690890" cy="320040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432873" y="1463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DELTAS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32873" y="1783080"/>
            <a:ext cx="14637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continue-boost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+0.059  </a:t>
            </a: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transfer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+0.038  </a:t>
            </a: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 (best)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CheMeleon double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+0.016  </a:t>
            </a: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feature-prior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+0.001  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inert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9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151564-2878-4665-6BE6-C5A74ADE42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897" r="2329"/>
          <a:stretch>
            <a:fillRect/>
          </a:stretch>
        </p:blipFill>
        <p:spPr>
          <a:xfrm>
            <a:off x="84209" y="1554480"/>
            <a:ext cx="1943957" cy="196634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1  •  WHAT THE MODELS LEARNED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RLM pre-training sharpens the encoder's attention to known metabolic substructures</a:t>
            </a:r>
            <a:endParaRPr lang="en-US" sz="2600" dirty="0"/>
          </a:p>
        </p:txBody>
      </p:sp>
      <p:pic>
        <p:nvPicPr>
          <p:cNvPr id="4" name="Image 0" descr="/sessions/nifty-eager-edison/mnt/xfer-learning/docs/figures/hlm-chemprop-scratch-vs-transfer-aggre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5943600" cy="2697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0690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atom-type saliency, top 10. Aggregated across 25 CV folds; numbers in italics show how often each feature appeared in the top 10.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92240" y="1325880"/>
            <a:ext cx="2286000" cy="320040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62940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629400" y="1737360"/>
            <a:ext cx="2011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environments dominate either way — robust HLM drivers regardless of pre-training.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 attention rises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RLM pre-training. Thioethers and sulfonamides are CYP substrates — the bias is chemistry, not noise.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encoder gains a sharper vocabulary for metabolically vulnerable groups.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2  •  UNRELATED TRANSFER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RLM → PAMPA: same molecules, different physics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expect transfer to fail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PAMPA pH 7.4 measures passive membrane permeability through an artificial phospholipid bilayer.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depends on lipophilicity, molecular size, and H-bond donor/acceptor count — not on metabolic vulnerability.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compound can be highly permeable but metabolically unstable, or vice-versa. The properties are orthogonal.</a:t>
            </a:r>
            <a:endParaRPr lang="en-US" sz="1300" dirty="0"/>
          </a:p>
        </p:txBody>
      </p:sp>
      <p:pic>
        <p:nvPicPr>
          <p:cNvPr id="6" name="Image 0" descr="/sessions/nifty-eager-edison/mnt/xfer-learning/docs/figures/eda-correlation-rlm-pamp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417320"/>
            <a:ext cx="3291840" cy="27157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394960" y="4160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correlation between RLM and PAMPA values across 985 shared compounds.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4251960"/>
            <a:ext cx="4572000" cy="365760"/>
          </a:xfrm>
          <a:prstGeom prst="rect">
            <a:avLst/>
          </a:prstGeom>
          <a:solidFill>
            <a:srgbClr val="D6E8EC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48640" y="426110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99.5% molecule overlap, 0% target correlation — a clean test of representation vs. decision transfer.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2  • 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continue-boosting collapses to random; everything else is fine</a:t>
            </a:r>
            <a:endParaRPr lang="en-US" sz="2600" dirty="0"/>
          </a:p>
        </p:txBody>
      </p:sp>
      <p:pic>
        <p:nvPicPr>
          <p:cNvPr id="4" name="Image 0" descr="/sessions/nifty-eager-edison/mnt/xfer-learning/docs/figures/boxplots-pampa-auc-p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5840" y="1367028"/>
            <a:ext cx="4974152" cy="2798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157085" y="4270248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AUC-PR across 25 CV folds. Dotted line = positive-class prevalence (0.855) — the random-classifier baseline.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7295712" y="1389888"/>
            <a:ext cx="1750851" cy="141732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87152" y="1463040"/>
            <a:ext cx="16301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RLM-transfer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87152" y="1709928"/>
            <a:ext cx="163010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0.853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387152" y="2350008"/>
            <a:ext cx="16301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at the random baseline.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-0.057 drop from scratch.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95712" y="2944368"/>
            <a:ext cx="1750851" cy="1691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387152" y="3017520"/>
            <a:ext cx="16301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model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87152" y="3264408"/>
            <a:ext cx="1630103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scratch </a:t>
            </a: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feature-prior </a:t>
            </a: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0.918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transfer </a:t>
            </a: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CheMeleon frozen </a:t>
            </a: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</a:t>
            </a:r>
            <a:endParaRPr lang="en-US" sz="1100" dirty="0"/>
          </a:p>
          <a:p>
            <a:pPr marL="0" indent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buNone/>
            </a:pP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 the top statistical group.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EEC1639-A226-E242-07E1-AC8A233F70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337" y="1497097"/>
            <a:ext cx="2018503" cy="201316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2  •  DIAGNOSIS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XGBoost broke and Chemprop didn't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4572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XGBoost: inherited the wrong call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Nitrogen-containing fragments learned in RLM as "metabolically unstable" got carried into PAMPA as "impermeable."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association. The new PAMPA trees can't delete or modify the old ones — they just have to fight against them.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200" dirty="0"/>
          </a:p>
          <a:p>
            <a:pPr marL="0" indent="0">
              <a:buNone/>
            </a:pPr>
            <a:r>
              <a:rPr lang="en-US" sz="11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doubling the fine-tune budget doesn't help: the structural cost is permanent.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023360" cy="45720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1463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Chemprop: re-routes around the noise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01168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encoder shifts visibly — sulfur attention up, aromatic nitrogen up — yet the new FFN head still finds a working mapping.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perturbation to internal features, no degradation in performance (+0.008, n.s.).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200" dirty="0"/>
          </a:p>
          <a:p>
            <a:pPr marL="0" indent="0">
              <a:buNone/>
            </a:pP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transfer doesn't bake in target-specific decisions, so it's safe to inherit even when the source is wrong.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SPECTRUM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flavors of transfer — and only one is both safe and useful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697480" y="14447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HLM Δ AUC-PR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251960" y="14447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PAMPA Δ AUC-PR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06440" y="1444752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reward profile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8229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90195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Decision-boundary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(XGB continue-boost)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51760" y="19933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+0.059</a:t>
            </a: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helps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06240" y="19933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−0.057</a:t>
            </a:r>
            <a:r>
              <a:rPr lang="en-US" sz="10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catastrophic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760720" y="199339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· high-reward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697480"/>
            <a:ext cx="8229600" cy="82296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27706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(D-MPNN encoder)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651760" y="2862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+0.038</a:t>
            </a: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helps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206240" y="286207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+0.008</a:t>
            </a: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neutral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760720" y="286207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 · moderate-reward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8229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363931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Feature-importance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(XGB feature-prior)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51760" y="373075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+0.001</a:t>
            </a: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inert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206240" y="373075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+0.000</a:t>
            </a: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inert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760720" y="373075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Zero-risk · zero-reward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transfer is the only protocol that gains from related sources without losing on unrelated ones.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EFFICIENCY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foundation model needs a quarter of the data to match XGBoost</a:t>
            </a:r>
            <a:endParaRPr lang="en-US" sz="2600" dirty="0"/>
          </a:p>
        </p:txBody>
      </p:sp>
      <p:pic>
        <p:nvPicPr>
          <p:cNvPr id="4" name="Image 0" descr="/sessions/nifty-eager-edison/mnt/xfer-learning/docs/figures/data-efficiency-all-endpoi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17320"/>
            <a:ext cx="7772400" cy="2551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39867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AUC-PR ± SEM across 25 CV folds at 1, 10, 25, 50, 75, 100% of training data. Asterisks = top statistical group.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365760" y="4297680"/>
            <a:ext cx="7772400" cy="411480"/>
          </a:xfrm>
          <a:prstGeom prst="rect">
            <a:avLst/>
          </a:prstGeom>
          <a:solidFill>
            <a:srgbClr val="D6E8EC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4306824"/>
            <a:ext cx="7589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of the data, CheMeleon-frozen already matches XGBoost at 100% — and the gap only widens.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7F0C0-8202-D1BA-A79D-CA6566E8E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6EF5FC2-B5E4-9737-BE23-3CAF499DCAFA}"/>
              </a:ext>
            </a:extLst>
          </p:cNvPr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EFFICIENCY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2B0C23E-1585-3E88-6BF5-A2F92EEF24EF}"/>
              </a:ext>
            </a:extLst>
          </p:cNvPr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Nuance - not all foundation models perform well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45ADD6D-CAAF-688E-872B-479FC15BCB28}"/>
              </a:ext>
            </a:extLst>
          </p:cNvPr>
          <p:cNvSpPr/>
          <p:nvPr/>
        </p:nvSpPr>
        <p:spPr>
          <a:xfrm>
            <a:off x="365760" y="39867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AUC-PR ± SEM across 25 CV folds at 1, 10, 25, 50, 75, 100% of training data. Asterisks = top statistical group.</a:t>
            </a:r>
            <a:endParaRPr lang="en-US" sz="900" dirty="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E9EBFEA-C4A6-0356-90DA-C1229FFD038F}"/>
              </a:ext>
            </a:extLst>
          </p:cNvPr>
          <p:cNvSpPr/>
          <p:nvPr/>
        </p:nvSpPr>
        <p:spPr>
          <a:xfrm>
            <a:off x="365760" y="4297680"/>
            <a:ext cx="7772400" cy="411480"/>
          </a:xfrm>
          <a:prstGeom prst="rect">
            <a:avLst/>
          </a:prstGeom>
          <a:solidFill>
            <a:srgbClr val="D6E8EC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B2FF80D-0C5A-5750-8583-271BFD8E3B04}"/>
              </a:ext>
            </a:extLst>
          </p:cNvPr>
          <p:cNvSpPr/>
          <p:nvPr/>
        </p:nvSpPr>
        <p:spPr>
          <a:xfrm>
            <a:off x="457200" y="4306824"/>
            <a:ext cx="7589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 is another deep-learned foundation model, totally different training data, process, and size (it’s 200x bigger!); why is it worse? Hard to say. Could be Chemeleon was trained on data more similar to these objectives.</a:t>
            </a:r>
            <a:endParaRPr lang="en-US" sz="12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B7E44589-B837-CAD5-35AA-95E1766A9D6E}"/>
              </a:ext>
            </a:extLst>
          </p:cNvPr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EF6D6FF-1AD1-4260-43A4-F1CA7B89425A}"/>
              </a:ext>
            </a:extLst>
          </p:cNvPr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E336456-6DDD-C3D4-96AF-188957C1BBFF}"/>
              </a:ext>
            </a:extLst>
          </p:cNvPr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04886E8-7496-8AB8-94EA-7D14430AD4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45" y="1508760"/>
            <a:ext cx="8099824" cy="23941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3055B7C-4FF6-9FF4-DBE4-5ECBA9B945E9}"/>
              </a:ext>
            </a:extLst>
          </p:cNvPr>
          <p:cNvSpPr txBox="1"/>
          <p:nvPr/>
        </p:nvSpPr>
        <p:spPr>
          <a:xfrm>
            <a:off x="7281847" y="88314"/>
            <a:ext cx="171262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huggingface.co</a:t>
            </a:r>
            <a:r>
              <a:rPr lang="en-US" sz="800" dirty="0"/>
              <a:t>/mist-models</a:t>
            </a:r>
          </a:p>
        </p:txBody>
      </p:sp>
    </p:spTree>
    <p:extLst>
      <p:ext uri="{BB962C8B-B14F-4D97-AF65-F5344CB8AC3E}">
        <p14:creationId xmlns:p14="http://schemas.microsoft.com/office/powerpoint/2010/main" val="9968739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RECOMMENDATION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choose for your next ADME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51760" cy="50292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4630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Quick, single endpoint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011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thousand compounds, no transfer ambitions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37744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on Morgan FPs is still the right first model. Trains in seconds, no GPU, mature SHAP tooling.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417320"/>
            <a:ext cx="26517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651760" cy="50292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83280" y="1463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94760" y="14630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transfer pipeline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2011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knowledge across endpoints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83280" y="237744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deep learned networks. Representation transfer is the only protocol that is both safe on unrelated sources and beneficial on related ones.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517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35040" y="1417320"/>
            <a:ext cx="2651760" cy="50292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172200" y="1463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0" y="14630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scarce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72200" y="2011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task-specific compounds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72200" y="237744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frozen foundation model (CheMeleon, MIST, etc.). However, performance may not improve as desired…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CAVEATS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not test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576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hyperparameter tuning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099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use library defaults. The relative rankings — and especially the transfer failure modes — are structural, but absolute performance numbers could shift with tuning.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36576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NCATS subsets only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4871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endpoints, ~900–2,500 compounds each. Different dataset sizes, scaffolds, or endpoints could change the picture.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36576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7180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transfer protocols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644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XGBoost continue-boosting, XGBoost feature-prior, D-MPNN encoder transfer,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CheMeleon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foundation finetune/freeze, and MIST frozen. There are other XGBoost transfer schemes potentially worth exploring. We did not test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fine-tuning protocols which tweak the embedding model itself for the new target; we likely could’ve eked more performance out of both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Chemeleon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MIST.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36576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report drafted with AI assistance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0416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was reviewed, but I am not a biochemist — domain readers should treat the chemistry interpretation as a working hypothesis.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600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THINGS TO REMEMBER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005840"/>
            <a:ext cx="502920" cy="50292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works — but the protocol decides whether it is safe.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63040" y="14173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Decision-boundary transfer is high-risk. Representation transfer is the only safe + useful flavor.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502920" cy="50292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2148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Catastrophic failure looks like a baseline-grade model.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63040" y="26517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RLM-transfer dropped to 0.853 AUC-PR on PAMPA — the random baseline. Silent failures are the dangerous kind.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474720"/>
            <a:ext cx="502920" cy="50292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296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6304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models change the data-efficiency math.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63040" y="388620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CheMeleon-frozen at 25% of the data matches XGBoost at 100%. The bar for "you need more compounds" just dropped. MIST model performs equivalently to </a:t>
            </a:r>
            <a:r>
              <a:rPr lang="en-US" sz="1200" i="1" dirty="0" err="1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r>
              <a:rPr lang="en-US" sz="1200" i="1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4663440"/>
            <a:ext cx="457200" cy="3657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" y="47365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write-up &amp; code  •  README.md in the project repo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2224</Words>
  <Application>Microsoft Macintosh PowerPoint</Application>
  <PresentationFormat>On-screen Show (16:9)</PresentationFormat>
  <Paragraphs>320</Paragraphs>
  <Slides>23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 Learning for Drug Discovery</dc:title>
  <dc:subject>PptxGenJS Presentation</dc:subject>
  <dc:creator>Raymond Gasper</dc:creator>
  <cp:lastModifiedBy>Raymond Gasper</cp:lastModifiedBy>
  <cp:revision>27</cp:revision>
  <dcterms:created xsi:type="dcterms:W3CDTF">2026-05-04T13:11:24Z</dcterms:created>
  <dcterms:modified xsi:type="dcterms:W3CDTF">2026-05-26T16:24:34Z</dcterms:modified>
</cp:coreProperties>
</file>