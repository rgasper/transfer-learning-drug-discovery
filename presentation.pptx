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64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7416-1452-1719-6633-5D4315A84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27575-3887-4952-6794-A7B73F63F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7264A-C58B-F6B4-D44A-96AF20CC3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B8621-9806-A27C-4A16-F377091C1D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11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2801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PRIMER &amp; TWO STORIES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help, when does it hurt, and why does the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protocol matter more than the model?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NCATS ADME endpoints  •  XGBoost · Chemprop · CheMeleon  •  5×5 chemical-space CV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QUESTION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ADME data is small. Transfer learning is the standard fix — but is it always safe?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4008" cy="310896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on the 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ADME assay yields </a:t>
            </a: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to a few thousand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— far below what neural networks normally need.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is the workaround: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1.  pre-train on a large dataset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2.  adapt to the small target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well when source and target share biochemistry.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3108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unspoken question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9659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source dataset turns out to be unrelated to your target?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892040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model gracefully ignore the irrelevant pre-training, or does it break?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39776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pick our drug targets to make our models look good.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fingerprints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 rot="5400000">
            <a:off x="960120" y="2148840"/>
            <a:ext cx="640080" cy="64008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3042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72768" y="2423160"/>
            <a:ext cx="164592" cy="0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00784" y="227685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2468880"/>
            <a:ext cx="64008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06040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11196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16352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921508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026664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31820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606040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11196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816352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921508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026664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31820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06040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11196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816352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921508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26664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31820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60604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11196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816352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21508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26664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13182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46888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2,048-bit Morgan FP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68880" y="3182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substructures present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783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83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411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411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154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154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006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634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9377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177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7548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8920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292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35524" y="2253996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335524" y="2253996"/>
            <a:ext cx="13716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19836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19836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7268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47268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257800" y="2176272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12064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39496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07492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21208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34924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48640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5792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792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655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55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5929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5929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715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577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852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5532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669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06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943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572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trees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each tree votes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263640" y="2468880"/>
            <a:ext cx="50292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6858000" y="2267712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858000" y="2286000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858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Σ of all trees' votes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 — fast, no GPU, mature SHAP tooling.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lives in the trees. Once a tree is built, it cannot be modified or removed — every tree votes on every prediction, forever.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graph neural networks  (Chemprop, CheMeleon)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234440" y="2148840"/>
            <a:ext cx="0" cy="320040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34440" y="2468880"/>
            <a:ext cx="0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4440" y="2468880"/>
            <a:ext cx="292608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52144" y="20665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52144" y="238658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44752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 graph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atoms exchange messages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1965960"/>
            <a:ext cx="3108960" cy="1143000"/>
          </a:xfrm>
          <a:prstGeom prst="rect">
            <a:avLst/>
          </a:prstGeom>
          <a:solidFill>
            <a:srgbClr val="FCFEFE"/>
          </a:solidFill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77440" y="1691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06040" y="2130552"/>
            <a:ext cx="11430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679192" y="2203704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679192" y="2426208"/>
            <a:ext cx="996696" cy="185928"/>
          </a:xfrm>
          <a:prstGeom prst="rect">
            <a:avLst/>
          </a:prstGeom>
          <a:solidFill>
            <a:srgbClr val="FFFFFF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79192" y="2648712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29443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message passing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2514600"/>
            <a:ext cx="365760" cy="0"/>
          </a:xfrm>
          <a:prstGeom prst="line">
            <a:avLst/>
          </a:prstGeom>
          <a:noFill/>
          <a:ln w="1905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2519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891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262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0060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749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2120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206240" y="29443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pooled vector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3212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26480" y="2231136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264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26480" y="2633472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55080" y="2331720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55080" y="2532888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99632" y="2267712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99632" y="2267712"/>
            <a:ext cx="155448" cy="301752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199632" y="2468880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99632" y="2468880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428232" y="2368296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428232" y="2569464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0" y="2926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head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136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B45309"/>
                </a:solidFill>
              </a:rPr>
              <a:t>replaceable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03720" y="2468880"/>
            <a:ext cx="32004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269480" y="225856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269480" y="2276856"/>
            <a:ext cx="1417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26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separable parts: an encoder that learns chemistry, a head that makes the call.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builds a vocabulary of molecular features (functional groups, ring systems) — the head maps that vocabulary to whatever target you care about.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DISTINCTION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carried over when you transfer?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291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•  decision-boundary transfer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924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924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720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720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46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46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8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0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1216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1216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750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750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4932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44932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23444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972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7160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515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1887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2588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463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81508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81508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6779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6779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95224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95224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73736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6002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87452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5544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691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828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965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57200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194560" y="2331720"/>
            <a:ext cx="8229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10312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continue boosting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00400" y="1828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506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506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369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369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643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3643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3429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3291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566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246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383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520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657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00964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00964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87248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87248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1468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41468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393192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79476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0690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749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88620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0233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605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51256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51256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375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4375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6497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46497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43484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297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4251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4389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526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63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5061204" y="2235708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5061204" y="2235708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92404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92404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19836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19836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83480" y="215798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484632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12064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480060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493776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07492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21208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564124" y="2180844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564124" y="2180844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2696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42696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70128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70128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486400" y="2103120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34924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62356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30352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44068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57784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571500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3154680" y="260604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 stay  +  new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6263640" y="1801368"/>
            <a:ext cx="2423160" cy="1060704"/>
          </a:xfrm>
          <a:prstGeom prst="rect">
            <a:avLst/>
          </a:prstGeom>
          <a:solidFill>
            <a:srgbClr val="FEE2E2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355080" y="1847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6355080" y="20299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decisions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6355080" y="2331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"substructure X ⇒ unstable" — and old trees can't be unlearned.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457200" y="3154680"/>
            <a:ext cx="8229600" cy="32918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594360" y="315468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 •  representation transfer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4572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5029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5029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1874520" y="3849624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874520" y="3858768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1920240" y="3877056"/>
            <a:ext cx="777240" cy="41148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920240" y="4288536"/>
            <a:ext cx="7772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2926080" y="4078224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2788920" y="380390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swap head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36576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37033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37033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34" name="Text 132"/>
          <p:cNvSpPr/>
          <p:nvPr/>
        </p:nvSpPr>
        <p:spPr>
          <a:xfrm>
            <a:off x="3703320" y="43342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F4C5C"/>
                </a:solidFill>
              </a:rPr>
              <a:t>(kept)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5074920" y="3849624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5074920" y="38587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head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5074920" y="43342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47857"/>
                </a:solidFill>
              </a:rPr>
              <a:t>(fresh)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6263640" y="3538728"/>
            <a:ext cx="2423160" cy="1060704"/>
          </a:xfrm>
          <a:prstGeom prst="rect">
            <a:avLst/>
          </a:prstGeom>
          <a:solidFill>
            <a:srgbClr val="DCFCE7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6355080" y="3584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635508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task-general features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635508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groups, ring systems — chemistry, not decisions. New head = clean slate.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4" name="Text 14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NCATS ADME endpoints — one source, two targets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3108960"/>
          </a:xfrm>
          <a:prstGeom prst="rect">
            <a:avLst/>
          </a:prstGeom>
          <a:solidFill>
            <a:srgbClr val="D6E8EC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Stability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2,529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/ 70%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4069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pre-train every architecture.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2971800"/>
            <a:ext cx="36576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0" y="1417320"/>
            <a:ext cx="2560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  •  RELATED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947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Stability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947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947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/ 40%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biochemistry, different species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help.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417320"/>
            <a:ext cx="237744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  •  UNRELATED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46520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46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membrane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2,033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/ 14%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permeable /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Lipophilicity, not metabolism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be useless or harmful.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08960" y="2971800"/>
            <a:ext cx="3200400" cy="0"/>
          </a:xfrm>
          <a:prstGeom prst="line">
            <a:avLst/>
          </a:prstGeom>
          <a:noFill/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IN ONE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the comparisons honest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657600" cy="36576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5 cross-validation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train/test splits per endpoint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17320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17320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17320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17320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801368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01368" y="2752344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01368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01368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801368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5416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185416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185416" y="3081528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85416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85416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9464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9464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9464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69464" y="3410712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69464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953512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953512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953512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53512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953512" y="3739896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17320" y="2130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5 replicates →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" y="3108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</a:rPr>
              <a:t>5 folds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17320" y="4233672"/>
            <a:ext cx="164592" cy="146304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6184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fold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331720" y="4233672"/>
            <a:ext cx="164592" cy="146304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328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fold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434840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splits across all model variants — paired comparisons.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97680" y="141732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297680" y="141732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462272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Chemical-space splits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462272" y="180136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 FPs → PaCMAP → KMeans clusters as fold groups. Test compounds occupy distinct regions of chemical space — no structural-similarity leakage.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297680" y="251460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297680" y="251460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462272" y="26060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Tukey HSD, FWER = 0.05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62272" y="289864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Family-wise error control. Reported significant differences have ≤ 5% false-positive risk even after correcting for many pairwise comparisons.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97680" y="361188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297680" y="361188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462272" y="37033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as primary metric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462272" y="39959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is 86% positive. AUC-PR is sensitive to minority-class errors; the random-classifier baseline equals the positive-class prevalence.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HLM: same biochemistry, different species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work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measure how quickly liver microsome enzymes (mostly CYP450s) break down a compound.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 isoform profiles differ between rat and human, but the rules of metabolic vulnerability — labile amines, benzylic positions, electron-rich aromatics — are largely shared.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medicinal chemist would expect knowledge of "what makes a molecule labile" to carry over.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303520" y="1417320"/>
            <a:ext cx="338328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OVERLAP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4068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∩ HLM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40680" y="23317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molecules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(5.6% of HLM)</a:t>
            </a:r>
            <a:endParaRPr lang="en-US" sz="26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scaffolds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(12.9% of HLM)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406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molecule overlap → benefit can't be simple memorization. Some scaffold familiarity — but most HLM scaffolds (87%) are unseen during RLM training.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helps almost every architecture on HLM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hlm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5577840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2519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random baseline (0.602).  Best: Chemprop RLM-transfer at 0.831.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126480" y="1371600"/>
            <a:ext cx="265176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6364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6364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continue-boost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(best)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double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+0.016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  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WHAT THE MODELS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pre-training sharpens the encoder's attention to known metabolic substructures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hlm-chemprop-scratch-vs-transfer-aggre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943600" cy="2697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0690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atom-type saliency, top 10. Aggregated across 25 CV folds; numbers in italics show how often each feature appeared in the top 10.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92240" y="1325880"/>
            <a:ext cx="22860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6294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629400" y="1737360"/>
            <a:ext cx="2011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environments dominate either way — robust HLM drivers regardless of pre-training.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attention rises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RLM pre-training. Thioethers and sulfonamides are CYP substrates — the bias is chemistry, not noise.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gains a sharper vocabulary for metabolically vulnerable groups.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UNRELATED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PAMPA: same molecules, different physics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fail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 measures passive membrane permeability through an artificial phospholipid bilayer.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depends on lipophilicity, molecular size, and H-bond donor/acceptor count — not on metabolic vulnerability.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compound can be highly permeable but metabolically unstable, or vice-versa. The properties are orthogonal.</a:t>
            </a:r>
            <a:endParaRPr lang="en-US" sz="1300" dirty="0"/>
          </a:p>
        </p:txBody>
      </p:sp>
      <p:pic>
        <p:nvPicPr>
          <p:cNvPr id="6" name="Image 0" descr="/sessions/nifty-eager-edison/mnt/xfer-learning/docs/figures/eda-correlation-rlm-pam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17320"/>
            <a:ext cx="329184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correlation between RLM and PAMPA values across 985 shared compounds.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4251960"/>
            <a:ext cx="4572000" cy="36576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99.5% molecule overlap, 0% target correlation — a clean test of representation vs. decision transfer.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continue-boosting collapses to random; everything else is fine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pampa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5577840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positive-class prevalence (0.855) — the random-classifier baseline.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126480" y="1371600"/>
            <a:ext cx="2651760" cy="141732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17920" y="1444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21792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621792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 the random baseline.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-0.057 drop from scratch.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26480" y="2926080"/>
            <a:ext cx="2651760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217920" y="2999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model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17920" y="324612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scratch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frozen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 the top statistical group.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DIAGNOSIS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XGBoost broke and Chemprop didn't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inherited the wrong call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Nitrogen-containing fragments learned in RLM as "metabolically unstable" got carried into PAMPA as "impermeable."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association. The new PAMPA trees can't delete or modify the old ones — they just have to fight against them.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doubling the fine-tune budget doesn't help: the structural cost is permanent.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4572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Chemprop: re-routes around the noise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shifts visibly — sulfur attention up, aromatic nitrogen up — yet the new FFN head still finds a working mapping.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perturbation to internal features, no degradation in performance (+0.008, n.s.).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doesn't bake in target-specific decisions, so it's safe to inherit even when the source is wrong.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SPECTRUM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flavors of transfer — and only one is both safe and useful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9748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Δ AUC-PR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5196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Δ AUC-PR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06440" y="144475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reward profile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continue-boost)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1993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06240" y="19933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−0.057</a:t>
            </a: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catastrophic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99339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· high-reward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8229600" cy="82296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7706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 encoder)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2862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06240" y="286207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+0.008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neutral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760720" y="28620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· moderate-reward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63931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Feature-importance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feature-prior)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7307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6240" y="37307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+0.000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37307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Zero-risk · zero-reward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is the only protocol that gains from related sources without losing on unrelated ones.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foundation model needs a quarter of the data to match XGBoost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data-efficiency-all-end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7772400" cy="2551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of the data, CheMeleon-frozen already matches XGBoost at 100% — and the gap only widens.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7F0C0-8202-D1BA-A79D-CA6566E8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EF5FC2-B5E4-9737-BE23-3CAF499DCAFA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B0C23E-1585-3E88-6BF5-A2F92EEF24EF}"/>
              </a:ext>
            </a:extLst>
          </p:cNvPr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foundation models perform well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45ADD6D-CAAF-688E-872B-479FC15BCB28}"/>
              </a:ext>
            </a:extLst>
          </p:cNvPr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E9EBFEA-C4A6-0356-90DA-C1229FFD038F}"/>
              </a:ext>
            </a:extLst>
          </p:cNvPr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B2FF80D-0C5A-5750-8583-271BFD8E3B04}"/>
              </a:ext>
            </a:extLst>
          </p:cNvPr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 is another deep-learned foundation model, totally different training data, process, and size (it’s bigger!); why is it worse? Hard to say. Could be Chemeleon was trained on data more similar to these objectives.</a:t>
            </a:r>
            <a:endParaRPr lang="en-US" sz="1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7E44589-B837-CAD5-35AA-95E1766A9D6E}"/>
              </a:ext>
            </a:extLst>
          </p:cNvPr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EF6D6FF-1AD1-4260-43A4-F1CA7B89425A}"/>
              </a:ext>
            </a:extLst>
          </p:cNvPr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E336456-6DDD-C3D4-96AF-188957C1BBFF}"/>
              </a:ext>
            </a:extLst>
          </p:cNvPr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4886E8-7496-8AB8-94EA-7D14430AD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45" y="1417320"/>
            <a:ext cx="8409186" cy="2485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8739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choose for your next ADME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single endpoint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thousand compounds, no transfer ambitions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FPs is still the right first model. Trains in seconds, no GPU, mature SHAP tooling.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9476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transfer pipeline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knowledge across endpoints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deep learned networks. Representation transfer is the only protocol that is both safe on unrelated sources and beneficial on related 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scarce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task-specific compounds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frozen foundation model (CheMeleon, MIST, etc.). However, performance may not improve as desired…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CAVEATS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hyperparameter 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09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use library defaults. The relative rankings — and especially the transfer failure modes — are structural, but absolute performance numbers could shift with tuning.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NCATS subsets only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~900–2,500 compounds each. Different dataset sizes, scaffolds, or endpoints could change the picture.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transfer protocols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644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XGBoost continue-boosting, XGBoost feature-prior, D-MPNN encoder transfer,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foundation finetune/freeze, and MIST frozen. There are other XGBoost transfer schemes potentially worth exploring. We did not test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fine-tuning protocols which tweak the embedding model itself for the new target; we likely could’ve eked more performance out of both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MIST.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 drafted with AI assistance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416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was reviewed, but I am not a biochemist — domain readers should treat the chemistry interpretation as a working hypothesis.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THINGS TO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00584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works — but the protocol decides whether it is safe.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417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 transfer is high-risk. Representation transfer is the only safe + useful flavor.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 failure looks like a baseline-grade model.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2651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 dropped to 0.853 AUC-PR on PAMPA — the random baseline. Silent failures are the dangerous kind.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change the data-efficiency math.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38862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CheMeleon-frozen at 25% of the data matches XGBoost at 100%. The bar for "you need more compounds" just dropped. MIST model performs equivalently to </a:t>
            </a:r>
            <a:r>
              <a:rPr lang="en-US" sz="1200" i="1" dirty="0" err="1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66344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7365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 &amp; code  •  README.md in the project repo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2030</Words>
  <Application>Microsoft Macintosh PowerPoint</Application>
  <PresentationFormat>On-screen Show (16:9)</PresentationFormat>
  <Paragraphs>303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 Learning for Drug Discovery</dc:title>
  <dc:subject>PptxGenJS Presentation</dc:subject>
  <dc:creator>Raymond Gasper</dc:creator>
  <cp:lastModifiedBy>Raymond Gasper</cp:lastModifiedBy>
  <cp:revision>11</cp:revision>
  <dcterms:created xsi:type="dcterms:W3CDTF">2026-05-04T13:11:24Z</dcterms:created>
  <dcterms:modified xsi:type="dcterms:W3CDTF">2026-05-14T18:37:13Z</dcterms:modified>
</cp:coreProperties>
</file>