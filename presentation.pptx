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64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7416-1452-1719-6633-5D4315A8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27575-3887-4952-6794-A7B73F63F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7264A-C58B-F6B4-D44A-96AF20CC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8621-9806-A27C-4A16-F377091C1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11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PRIMER &amp; TWO STORIES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help, when does it hurt, and why does the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protocol matter more than the model?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457200" cy="3657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708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NCATS ADME endpoints  •  XGBoost · Chemprop · CheMeleon  •  5×5 chemical-space CV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QUESTION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data is small. Transfer learning is the standard fix — but is it always safe?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3108960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on the bench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ADME assay yields 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to a few thousand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— far below what neural networks normally need.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the workaround: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 pre-train on a large dataset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 adapt to the small target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well when source and target share biochemistry.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unspoken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source dataset turns out to be unrelated to your target?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92040" y="3154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gracefully ignore the irrelevant pre-training, or does it break?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3977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pick our drug targets to make our models look good.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 •  MODEL FAMILY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Morgan fingerprints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rot="5400000">
            <a:off x="960120" y="2148840"/>
            <a:ext cx="640080" cy="64008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23042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72768" y="2423160"/>
            <a:ext cx="164592" cy="0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00784" y="2276856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468880"/>
            <a:ext cx="64008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2176272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11196" y="2176272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16352" y="2176272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1508" y="2176272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26664" y="2176272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31820" y="2176272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06040" y="2281428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11196" y="2281428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16352" y="2281428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1508" y="2281428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26664" y="2281428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31820" y="2281428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06040" y="2386584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11196" y="2386584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16352" y="2386584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1508" y="2386584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26664" y="2386584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31820" y="2386584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06040" y="2491740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11196" y="2491740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16352" y="2491740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1508" y="2491740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26664" y="2491740"/>
            <a:ext cx="82296" cy="82296"/>
          </a:xfrm>
          <a:prstGeom prst="rect">
            <a:avLst/>
          </a:prstGeom>
          <a:solidFill>
            <a:srgbClr val="1B6B7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31820" y="2491740"/>
            <a:ext cx="82296" cy="82296"/>
          </a:xfrm>
          <a:prstGeom prst="rect">
            <a:avLst/>
          </a:prstGeom>
          <a:solidFill>
            <a:srgbClr val="EFF3F6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688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2,048-bit Morgan FP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3182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substructures present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2468880"/>
            <a:ext cx="45720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7832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832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4116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4116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1548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1548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3776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1772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920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2920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335524" y="2253996"/>
            <a:ext cx="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335524" y="2253996"/>
            <a:ext cx="13716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98364" y="2418588"/>
            <a:ext cx="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198364" y="2418588"/>
            <a:ext cx="9144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72684" y="2418588"/>
            <a:ext cx="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72684" y="2418588"/>
            <a:ext cx="91440" cy="164592"/>
          </a:xfrm>
          <a:prstGeom prst="line">
            <a:avLst/>
          </a:prstGeom>
          <a:noFill/>
          <a:ln w="1016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257800" y="2176272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120640" y="2340864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394960" y="2340864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074920" y="2505456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212080" y="2505456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349240" y="2505456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86400" y="2505456"/>
            <a:ext cx="155448" cy="1554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79272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79272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65556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5556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92988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92988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71500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57784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85216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53212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66928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8064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5720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572000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each tree votes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63640" y="2468880"/>
            <a:ext cx="50292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858000" y="2267712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858000" y="2286000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p(stable) = 0.81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8580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858000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Σ of all trees' votes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0080" y="39044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fast, no GPU, mature SHAP tooling.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4008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the trees. Once a tree is built, it cannot be modified or removed — every tree votes on every prediction, forever.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 •  MODEL FAMILY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D-MPNN graph neural networks  (Chemprop, CheMeleon)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34440" y="2148840"/>
            <a:ext cx="0" cy="320040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2468880"/>
            <a:ext cx="0" cy="256032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292608" cy="256032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2144" y="20665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2144" y="238658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642616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44752" y="2642616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 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atoms exchange messages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45720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1965960"/>
            <a:ext cx="3108960" cy="1143000"/>
          </a:xfrm>
          <a:prstGeom prst="rect">
            <a:avLst/>
          </a:prstGeom>
          <a:solidFill>
            <a:srgbClr val="FCFEFE"/>
          </a:solidFill>
          <a:ln w="12700">
            <a:solidFill>
              <a:srgbClr val="1B6B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130552"/>
            <a:ext cx="11430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79192" y="2203704"/>
            <a:ext cx="996696" cy="185928"/>
          </a:xfrm>
          <a:prstGeom prst="rect">
            <a:avLst/>
          </a:prstGeom>
          <a:solidFill>
            <a:srgbClr val="D6E8EC"/>
          </a:solidFill>
          <a:ln w="63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79192" y="2426208"/>
            <a:ext cx="996696" cy="185928"/>
          </a:xfrm>
          <a:prstGeom prst="rect">
            <a:avLst/>
          </a:prstGeom>
          <a:solidFill>
            <a:srgbClr val="FFFFFF"/>
          </a:solidFill>
          <a:ln w="63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79192" y="2648712"/>
            <a:ext cx="996696" cy="185928"/>
          </a:xfrm>
          <a:prstGeom prst="rect">
            <a:avLst/>
          </a:prstGeom>
          <a:solidFill>
            <a:srgbClr val="D6E8EC"/>
          </a:solidFill>
          <a:ln w="635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29443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message passing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2514600"/>
            <a:ext cx="365760" cy="0"/>
          </a:xfrm>
          <a:prstGeom prst="line">
            <a:avLst/>
          </a:prstGeom>
          <a:noFill/>
          <a:ln w="1905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5196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7492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0" y="2423160"/>
            <a:ext cx="118872" cy="118872"/>
          </a:xfrm>
          <a:prstGeom prst="rect">
            <a:avLst/>
          </a:prstGeom>
          <a:solidFill>
            <a:srgbClr val="1B6B7D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pooled vector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2468880"/>
            <a:ext cx="45720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223113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243230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263347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55080" y="233172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5080" y="253288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83680" y="243230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99632" y="2267712"/>
            <a:ext cx="155448" cy="100584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99632" y="2267712"/>
            <a:ext cx="155448" cy="301752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99632" y="2468880"/>
            <a:ext cx="155448" cy="0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99632" y="2468880"/>
            <a:ext cx="155448" cy="100584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99632" y="2670048"/>
            <a:ext cx="155448" cy="0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99632" y="2670048"/>
            <a:ext cx="155448" cy="0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28232" y="2368296"/>
            <a:ext cx="155448" cy="100584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28232" y="2569464"/>
            <a:ext cx="155448" cy="0"/>
          </a:xfrm>
          <a:prstGeom prst="line">
            <a:avLst/>
          </a:prstGeom>
          <a:noFill/>
          <a:ln w="5080">
            <a:solidFill>
              <a:srgbClr val="B4530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head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3136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45309"/>
                </a:solidFill>
              </a:rPr>
              <a:t>replaceable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2468880"/>
            <a:ext cx="32004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69480" y="225856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276856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p(stable) = 0.81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6948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" y="39044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separable parts: an encoder that learns chemistry, a head that makes the call.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builds a vocabulary of molecular features (functional groups, ring systems) — the head maps that vocabulary to whatever target you care about.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DISTINCTION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carried over when you transfer?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•  decision-boundary transfer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(RLM)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924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24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208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4640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640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012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12164" y="2235708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12164" y="2235708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75004" y="2400300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75004" y="2400300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49324" y="2400300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49324" y="2400300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34440" y="215798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97280" y="2322576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1600" y="2322576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156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8872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2588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6304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1508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1508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67792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7792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95224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95224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3736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0020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7452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5448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6916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82880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96596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 trees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94560" y="233172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03120" y="2057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continue boosting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004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(HLM / PAMPA)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0672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50672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36956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36956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64388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64388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42900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29184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56616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24612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38328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5204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65760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009644" y="2235708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009644" y="2235708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872484" y="2400300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872484" y="2400300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146804" y="2400300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146804" y="2400300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931920" y="215798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794760" y="2322576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069080" y="2322576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74904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88620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02336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160520" y="2487168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512564" y="2180844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512564" y="2180844"/>
            <a:ext cx="13716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37540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37540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649724" y="2345436"/>
            <a:ext cx="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649724" y="2345436"/>
            <a:ext cx="91440" cy="164592"/>
          </a:xfrm>
          <a:prstGeom prst="line">
            <a:avLst/>
          </a:prstGeom>
          <a:noFill/>
          <a:ln w="1016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434840" y="2103120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29768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572000" y="2267712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25196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38912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52628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663440" y="2432304"/>
            <a:ext cx="155448" cy="155448"/>
          </a:xfrm>
          <a:prstGeom prst="ellipse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061204" y="2235708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061204" y="2235708"/>
            <a:ext cx="13716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924044" y="2400300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924044" y="2400300"/>
            <a:ext cx="9144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198364" y="2400300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198364" y="2400300"/>
            <a:ext cx="9144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983480" y="215798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846320" y="2322576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120640" y="2322576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800600" y="248716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937760" y="248716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074920" y="248716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212080" y="248716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564124" y="2180844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5564124" y="2180844"/>
            <a:ext cx="13716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5426964" y="2345436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426964" y="2345436"/>
            <a:ext cx="9144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701284" y="2345436"/>
            <a:ext cx="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701284" y="2345436"/>
            <a:ext cx="91440" cy="164592"/>
          </a:xfrm>
          <a:prstGeom prst="line">
            <a:avLst/>
          </a:prstGeom>
          <a:noFill/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486400" y="2103120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349240" y="2267712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623560" y="2267712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303520" y="243230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440680" y="243230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577840" y="243230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715000" y="243230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154680" y="26060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 trees stay  +  new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263640" y="1801368"/>
            <a:ext cx="2423160" cy="1060704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35508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Inherited: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55080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decisions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635508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"substructure X ⇒ unstable" — and old trees can't be unlearned.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57200" y="3154680"/>
            <a:ext cx="822960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594360" y="3154680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D-MPNN  •  representation transfer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45720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(RLM)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502920" y="3822192"/>
            <a:ext cx="1280160" cy="502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50292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1874520" y="3849624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1874520" y="385876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1920240" y="3877056"/>
            <a:ext cx="777240" cy="41148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920240" y="4288536"/>
            <a:ext cx="77724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2926080" y="4078224"/>
            <a:ext cx="5943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2788920" y="38039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swap head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365760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(HLM / PAMPA)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703320" y="3822192"/>
            <a:ext cx="1280160" cy="502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70332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3703320" y="4334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4C5C"/>
                </a:solidFill>
              </a:rPr>
              <a:t>(kept)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5074920" y="3849624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5074920" y="3858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5074920" y="4334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47857"/>
                </a:solidFill>
              </a:rPr>
              <a:t>(fresh)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6263640" y="3538728"/>
            <a:ext cx="2423160" cy="1060704"/>
          </a:xfrm>
          <a:prstGeom prst="rect">
            <a:avLst/>
          </a:prstGeom>
          <a:solidFill>
            <a:srgbClr val="DCFCE7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6355080" y="3584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Inherited: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635508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task-general features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635508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groups, ring systems — chemistry, not decisions. New head = clean slate.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NCATS ADME endpoints — one source, two targets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3108960"/>
          </a:xfrm>
          <a:prstGeom prst="rect">
            <a:avLst/>
          </a:prstGeom>
          <a:solidFill>
            <a:srgbClr val="D6E8EC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Stability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liver microsomal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stability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2,529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/ 70%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unstable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pre-train every architecture.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971800"/>
            <a:ext cx="365760" cy="0"/>
          </a:xfrm>
          <a:prstGeom prst="line">
            <a:avLst/>
          </a:prstGeom>
          <a:noFill/>
          <a:ln w="25400">
            <a:solidFill>
              <a:srgbClr val="1B6B7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25603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  •  RELATED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 Stability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liver microsomal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stability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/ 40%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unstable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947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biochemistry, different species —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 transfer to help.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23774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 •  UNRELATED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PAMPA pH 7.4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membrane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2,033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/ 14%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permeable / not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Lipophilicity, not metabolism —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 transfer to be useless or harmful.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2971800"/>
            <a:ext cx="3200400" cy="0"/>
          </a:xfrm>
          <a:prstGeom prst="line">
            <a:avLst/>
          </a:prstGeom>
          <a:noFill/>
          <a:ln w="12700">
            <a:solidFill>
              <a:srgbClr val="1B6B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IN ONE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the comparisons honest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6576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 cross-validation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train/test splits per endpoint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2423160"/>
            <a:ext cx="347472" cy="292608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2752344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17320" y="3081528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3410712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17320" y="3739896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01368" y="2423160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01368" y="2752344"/>
            <a:ext cx="347472" cy="292608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01368" y="3081528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01368" y="3410712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01368" y="3739896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85416" y="2423160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85416" y="2752344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85416" y="3081528"/>
            <a:ext cx="347472" cy="292608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85416" y="3410712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85416" y="3739896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9464" y="2423160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9464" y="2752344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9464" y="3081528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9464" y="3410712"/>
            <a:ext cx="347472" cy="292608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9464" y="3739896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53512" y="2423160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53512" y="2752344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53512" y="3081528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53512" y="3410712"/>
            <a:ext cx="347472" cy="292608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53512" y="3739896"/>
            <a:ext cx="347472" cy="292608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17320" y="2130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5 replicates 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5 folds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417320" y="4233672"/>
            <a:ext cx="164592" cy="146304"/>
          </a:xfrm>
          <a:prstGeom prst="rect">
            <a:avLst/>
          </a:prstGeom>
          <a:solidFill>
            <a:srgbClr val="FCD34D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18488" y="4215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31720" y="4233672"/>
            <a:ext cx="164592" cy="146304"/>
          </a:xfrm>
          <a:prstGeom prst="rect">
            <a:avLst/>
          </a:prstGeom>
          <a:solidFill>
            <a:srgbClr val="D6E8EC"/>
          </a:solidFill>
          <a:ln w="9525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32888" y="4215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fold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splits across all model variants — paired comparisons.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1417320"/>
            <a:ext cx="4389120" cy="97840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297680" y="1417320"/>
            <a:ext cx="54864" cy="978408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62272" y="1508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Chemical-space splits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62272" y="18013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FPs → PaCMAP → KMeans clusters as fold groups. Test compounds occupy distinct regions of chemical space — no structural-similarity leakage.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2514600"/>
            <a:ext cx="4389120" cy="97840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297680" y="2514600"/>
            <a:ext cx="54864" cy="978408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462272" y="2606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HSD, FWER = 0.05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462272" y="28986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Family-wise error control. Reported significant differences have ≤ 5% false-positive risk even after correcting for many pairwise comparisons.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3611880"/>
            <a:ext cx="4389120" cy="97840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297680" y="3611880"/>
            <a:ext cx="54864" cy="978408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62272" y="3703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as primary metric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462272" y="3995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PAMPA is 86% positive. AUC-PR is sensitive to minority-class errors; the random-classifier baseline equals the positive-class prevalence.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  •  RELATED TRANSFER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→ HLM: same biochemistry, different species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expect transfer to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endpoints measure how quickly liver microsome enzymes (mostly CYP450s) break down a compound.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 isoform profiles differ between rat and human, but the rules of metabolic vulnerability — labile amines, benzylic positions, electron-rich aromatics — are largely shared.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medicinal chemist would expect knowledge of "what makes a molecule labile" to carry over.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417320"/>
            <a:ext cx="33832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06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OVERLAP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406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∩ HLM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40680" y="2331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molecules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(5.6% of HLM)</a:t>
            </a:r>
            <a:endParaRPr lang="en-US" sz="26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scaffolds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(12.9% of HLM)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4068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molecule overlap → benefit can't be simple memorization. Some scaffold familiarity — but most HLM scaffolds (87%) are unseen during RLM training.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  •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helps almost every architecture on HLM</a:t>
            </a:r>
            <a:endParaRPr lang="en-US" sz="2600" dirty="0"/>
          </a:p>
        </p:txBody>
      </p:sp>
      <p:pic>
        <p:nvPicPr>
          <p:cNvPr id="4" name="Image 0" descr="/sessions/nifty-eager-edison/mnt/xfer-learning/docs/figures/boxplots-hlm-auc-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577840" cy="279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51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across 25 CV folds. Dotted line = random baseline (0.602).  Best: Chemprop RLM-transfer at 0.831.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64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continue-boost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+0.059  </a:t>
            </a: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transfer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  </a:t>
            </a: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(best)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 double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+0.016  </a:t>
            </a: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feature-prior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 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  •  WHAT THE MODELS LEARNED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pre-training sharpens the encoder's attention to known metabolic substructures</a:t>
            </a:r>
            <a:endParaRPr lang="en-US" sz="2600" dirty="0"/>
          </a:p>
        </p:txBody>
      </p:sp>
      <p:pic>
        <p:nvPicPr>
          <p:cNvPr id="4" name="Image 0" descr="/sessions/nifty-eager-edison/mnt/xfer-learning/docs/figures/hlm-chemprop-scratch-vs-transfer-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943600" cy="269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069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atom-type saliency, top 10. Aggregated across 25 CV folds; numbers in italics show how often each feature appeared in the top 10.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92240" y="1325880"/>
            <a:ext cx="22860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29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29400" y="173736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environments dominate either way — robust HLM drivers regardless of pre-training.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attention rises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RLM pre-training. Thioethers and sulfonamides are CYP substrates — the bias is chemistry, not noise.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gains a sharper vocabulary for metabolically vulnerable groups.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  •  UNRELATED TRANSFER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→ PAMPA: same molecules, different physics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expect transfer to fail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PAMPA pH 7.4 measures passive membrane permeability through an artificial phospholipid bilayer.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lipophilicity, molecular size, and H-bond donor/acceptor count — not on metabolic vulnerability.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can be highly permeable but metabolically unstable, or vice-versa. The properties are orthogonal.</a:t>
            </a:r>
            <a:endParaRPr lang="en-US" sz="1300" dirty="0"/>
          </a:p>
        </p:txBody>
      </p:sp>
      <p:pic>
        <p:nvPicPr>
          <p:cNvPr id="6" name="Image 0" descr="/sessions/nifty-eager-edison/mnt/xfer-learning/docs/figures/eda-correlation-rlm-pam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17320"/>
            <a:ext cx="3291840" cy="271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 between RLM and PAMPA values across 985 shared compounds.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solidFill>
            <a:srgbClr val="D6E8EC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42611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molecule overlap, 0% target correlation — a clean test of representation vs. decision transfer.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  •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continue-boosting collapses to random; everything else is fine</a:t>
            </a:r>
            <a:endParaRPr lang="en-US" sz="2600" dirty="0"/>
          </a:p>
        </p:txBody>
      </p:sp>
      <p:pic>
        <p:nvPicPr>
          <p:cNvPr id="4" name="Image 0" descr="/sessions/nifty-eager-edison/mnt/xfer-learning/docs/figures/boxplots-pampa-auc-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577840" cy="279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06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across 25 CV folds. Dotted line = positive-class prevalence (0.855) — the random-classifier baseline.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126480" y="1371600"/>
            <a:ext cx="265176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RLM-transfer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 the random baseline.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-0.057 drop from scratch.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model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scratch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feature-prior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transfer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 frozen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the top statistical group.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  •  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broke and Chemprop didn't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inherited the wrong 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Nitrogen-containing fragments learned in RLM as "metabolically unstable" got carried into PAMPA as "impermeable."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association. The new PAMPA trees can't delete or modify the old ones — they just have to fight against them.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doubling the fine-tune budget doesn't help: the structural cost is permanent.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Chemprop: re-routes around the noise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shifts visibly — sulfur attention up, aromatic nitrogen up — yet the new FFN head still finds a working mapping.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perturbation to internal features, no degradation in performance (+0.008, n.s.).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transfer doesn't bake in target-specific decisions, so it's safe to inherit even when the source is wrong.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SPECTRUM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flavors of transfer — and only one is both safe and useful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444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 Δ AUC-PR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1960" y="1444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PAMPA Δ AUC-PR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1444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reward 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Decision-boundary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 continue-boost)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933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+0.059</a:t>
            </a: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helps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19933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−0.057</a:t>
            </a: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catastrophic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· high-reward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7706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(D-MPNN encoder)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862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</a:t>
            </a: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helps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2862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+0.008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neutral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28620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· moderate-reward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639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 feature-prior)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inert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37307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inert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37307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Zero-risk · zero-reward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transfer is the only protocol that gains from related sources without losing on unrelated ones.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 needs a quarter of the data to match XGBoost</a:t>
            </a:r>
            <a:endParaRPr lang="en-US" sz="2600" dirty="0"/>
          </a:p>
        </p:txBody>
      </p:sp>
      <p:pic>
        <p:nvPicPr>
          <p:cNvPr id="4" name="Image 0" descr="/sessions/nifty-eager-edison/mnt/xfer-learning/docs/figures/data-efficiency-all-end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7772400" cy="2551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9867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AUC-PR ± SEM across 25 CV folds at 1, 10, 25, 50, 75, 100% of training data. Asterisks = top statistical group.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4297680"/>
            <a:ext cx="7772400" cy="411480"/>
          </a:xfrm>
          <a:prstGeom prst="rect">
            <a:avLst/>
          </a:prstGeom>
          <a:solidFill>
            <a:srgbClr val="D6E8EC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306824"/>
            <a:ext cx="7589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25% of the data, CheMeleon-frozen already matches XGBoost at 100% — and the gap only widens.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F0C0-8202-D1BA-A79D-CA6566E8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EF5FC2-B5E4-9737-BE23-3CAF499DCAFA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EFFICIENCY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B0C23E-1585-3E88-6BF5-A2F92EEF24EF}"/>
              </a:ext>
            </a:extLst>
          </p:cNvPr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foundation models perform well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5ADD6D-CAAF-688E-872B-479FC15BCB28}"/>
              </a:ext>
            </a:extLst>
          </p:cNvPr>
          <p:cNvSpPr/>
          <p:nvPr/>
        </p:nvSpPr>
        <p:spPr>
          <a:xfrm>
            <a:off x="365760" y="39867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AUC-PR ± SEM across 25 CV folds at 1, 10, 25, 50, 75, 100% of training data. Asterisks = top statistical group.</a:t>
            </a:r>
            <a:endParaRPr lang="en-US" sz="9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E9EBFEA-C4A6-0356-90DA-C1229FFD038F}"/>
              </a:ext>
            </a:extLst>
          </p:cNvPr>
          <p:cNvSpPr/>
          <p:nvPr/>
        </p:nvSpPr>
        <p:spPr>
          <a:xfrm>
            <a:off x="365760" y="4297680"/>
            <a:ext cx="7772400" cy="411480"/>
          </a:xfrm>
          <a:prstGeom prst="rect">
            <a:avLst/>
          </a:prstGeom>
          <a:solidFill>
            <a:srgbClr val="D6E8EC"/>
          </a:solidFill>
          <a:ln w="635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B2FF80D-0C5A-5750-8583-271BFD8E3B04}"/>
              </a:ext>
            </a:extLst>
          </p:cNvPr>
          <p:cNvSpPr/>
          <p:nvPr/>
        </p:nvSpPr>
        <p:spPr>
          <a:xfrm>
            <a:off x="457200" y="4306824"/>
            <a:ext cx="7589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is another deep-learned foundation model, totally different training data, process, and size (it’s bigger!); why is it worse? Hard to say. Could be Chemeleon was trained on data more similar to these objectives.</a:t>
            </a:r>
            <a:endParaRPr lang="en-US" sz="1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7E44589-B837-CAD5-35AA-95E1766A9D6E}"/>
              </a:ext>
            </a:extLst>
          </p:cNvPr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EF6D6FF-1AD1-4260-43A4-F1CA7B89425A}"/>
              </a:ext>
            </a:extLst>
          </p:cNvPr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336456-6DDD-C3D4-96AF-188957C1BBFF}"/>
              </a:ext>
            </a:extLst>
          </p:cNvPr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4886E8-7496-8AB8-94EA-7D14430A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45" y="1417320"/>
            <a:ext cx="8409186" cy="248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73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for your next ADME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single 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thousand compounds, no transfer ambitions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Morgan FPs is still the right first model. Trains in seconds, no GPU, mature SHAP tooling.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transfer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knowledge across endpoints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deep learned networks. Representation transfer is the only protocol that is both safe on unrelated sources and beneficial on related 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502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scarce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~500 task-specific compounds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frozen foundation model (CheMeleon, MIST, etc.). However, performance may not improve as desired…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 library defaults. The relative rankings — and especially the transfer failure modes — are structural, but absolute performance numbers could shift with tuning.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NCATS subsets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endpoints, ~900–2,500 compounds each. Different dataset sizes, scaffolds, or endpoints could change the picture.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6576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transfer protocols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XGBoost continue-boosting, XGBoost feature-prior, D-MPNN encoder transfer,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foundation finetune/freeze, and MIST frozen. There are other XGBoost transfer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potentially worth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6576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report drafted with AI assistance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416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was reviewed, but I am not a biochemist — domain readers should treat the chemistry interpretation as a working hypothesis.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Drug Discovery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B7D"/>
          </a:solidFill>
          <a:ln w="12700">
            <a:solidFill>
              <a:srgbClr val="1B6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THINGS TO REMEMBER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005840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works — but the protocol decides whether it is safe.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Decision-boundary transfer is high-risk. Representation transfer is the only safe + useful flavor.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failure looks like a baseline-grade model.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RLM-transfer dropped to 0.853 AUC-PR on PAMPA — the random baseline. Silent failures are the dangerous kind.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change the data-efficiency math.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CheMeleon-frozen at 25% of the data matches XGBoost at 100%. The bar for "you need more compounds" just dropped. MIST model performs equivalently to </a:t>
            </a:r>
            <a:r>
              <a:rPr lang="en-US" sz="1200" i="1" dirty="0" err="1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00" i="1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457200" cy="3657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 &amp; code  •  README.md in the project repo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1999</Words>
  <Application>Microsoft Macintosh PowerPoint</Application>
  <PresentationFormat>On-screen Show (16:9)</PresentationFormat>
  <Paragraphs>303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 for Drug Discovery</dc:title>
  <dc:subject>PptxGenJS Presentation</dc:subject>
  <dc:creator>Raymond Gasper</dc:creator>
  <cp:lastModifiedBy>Raymond Gasper</cp:lastModifiedBy>
  <cp:revision>9</cp:revision>
  <dcterms:created xsi:type="dcterms:W3CDTF">2026-05-04T13:11:24Z</dcterms:created>
  <dcterms:modified xsi:type="dcterms:W3CDTF">2026-05-14T18:33:30Z</dcterms:modified>
</cp:coreProperties>
</file>